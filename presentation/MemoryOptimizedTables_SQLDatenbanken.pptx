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sldIdLst>
    <p:sldId id="256" r:id="rId2"/>
    <p:sldId id="260" r:id="rId3"/>
    <p:sldId id="257" r:id="rId4"/>
    <p:sldId id="264" r:id="rId5"/>
    <p:sldId id="259" r:id="rId6"/>
    <p:sldId id="262" r:id="rId7"/>
    <p:sldId id="261" r:id="rId8"/>
    <p:sldId id="263" r:id="rId9"/>
    <p:sldId id="265" r:id="rId10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516" y="3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528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235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044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38897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55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470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648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9151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726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4915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959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5262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5118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1927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2552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896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7649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981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6983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3451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6010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16678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9260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41004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74064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5860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14722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22752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6854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2/24/2026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5734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399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1362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208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8199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0289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25668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4450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201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227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69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0531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823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959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95189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25352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59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2/24/2026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24510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7482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448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98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820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114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ystemdr.substack.com/p/in-memory-databases-when-and-why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ssms/install/install" TargetMode="External"/><Relationship Id="rId2" Type="http://schemas.openxmlformats.org/officeDocument/2006/relationships/hyperlink" Target="https://www.microsoft.com/en-us/sql-server/sql-server-downloads" TargetMode="External"/><Relationship Id="rId1" Type="http://schemas.openxmlformats.org/officeDocument/2006/relationships/slideLayout" Target="../slideLayouts/slideLayout44.xml"/><Relationship Id="rId5" Type="http://schemas.openxmlformats.org/officeDocument/2006/relationships/image" Target="../media/image12.png"/><Relationship Id="rId4" Type="http://schemas.openxmlformats.org/officeDocument/2006/relationships/hyperlink" Target="https://github.com/Microsoft/sql-server-samples/releases/tag/wide-world-importers-v1.0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AA00-127F-33A9-EA7F-053C7A3BE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de-CH" dirty="0"/>
              <a:t>Memory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 (</a:t>
            </a:r>
            <a:r>
              <a:rPr lang="de-CH" dirty="0" err="1"/>
              <a:t>MOT</a:t>
            </a:r>
            <a:r>
              <a:rPr lang="de-CH" dirty="0"/>
              <a:t>) in Microsoft SQL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4D9AB-112F-50A4-C317-3709D9E0F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/>
          <a:p>
            <a:r>
              <a:rPr lang="de-CH" dirty="0"/>
              <a:t>25/02/2026</a:t>
            </a:r>
          </a:p>
          <a:p>
            <a:endParaRPr lang="en-CH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2D44951E-C99D-7082-016F-D3A1030E44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</p:spPr>
        <p:txBody>
          <a:bodyPr/>
          <a:lstStyle/>
          <a:p>
            <a:endParaRPr lang="en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B62A9-81C6-FE83-3C50-C6CDF08F3820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04395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3DF1A-EFA6-76D2-968F-BFD871C7D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de-CH" dirty="0"/>
              <a:t>Aufgabe</a:t>
            </a:r>
            <a:endParaRPr lang="en-CH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58EA86D-5FBC-2C82-D46B-C26A54C026C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9664584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6057702" y="1174385"/>
          <a:ext cx="5509458" cy="3607384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38074">
                  <a:extLst>
                    <a:ext uri="{9D8B030D-6E8A-4147-A177-3AD203B41FA5}">
                      <a16:colId xmlns:a16="http://schemas.microsoft.com/office/drawing/2014/main" val="2308814322"/>
                    </a:ext>
                  </a:extLst>
                </a:gridCol>
                <a:gridCol w="3571384">
                  <a:extLst>
                    <a:ext uri="{9D8B030D-6E8A-4147-A177-3AD203B41FA5}">
                      <a16:colId xmlns:a16="http://schemas.microsoft.com/office/drawing/2014/main" val="3832903153"/>
                    </a:ext>
                  </a:extLst>
                </a:gridCol>
              </a:tblGrid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Disk vs in MOT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09286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Kurzdemo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Performance in SSMS 2022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217168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Vor – und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Nachteile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Memory Optimized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808265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1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CH" sz="3100" b="1" cap="none" spc="0" dirty="0">
                        <a:solidFill>
                          <a:schemeClr val="accent1"/>
                        </a:solidFill>
                      </a:endParaRP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Beispiel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Memory Optimized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42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2536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4A5C-24CA-63A6-9B49-75F430C32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pic>
        <p:nvPicPr>
          <p:cNvPr id="1026" name="Picture 2" descr="In-Memory Databases: When and Why to Use Them">
            <a:extLst>
              <a:ext uri="{FF2B5EF4-FFF2-40B4-BE49-F238E27FC236}">
                <a16:creationId xmlns:a16="http://schemas.microsoft.com/office/drawing/2014/main" id="{495C247A-E3B9-55A1-235F-C2866DD9E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633" y="2126783"/>
            <a:ext cx="6984733" cy="4365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32D2DB-6F73-9900-7CAE-C07CB8C91C49}"/>
              </a:ext>
            </a:extLst>
          </p:cNvPr>
          <p:cNvSpPr txBox="1"/>
          <p:nvPr/>
        </p:nvSpPr>
        <p:spPr>
          <a:xfrm>
            <a:off x="2745088" y="6456575"/>
            <a:ext cx="77406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/>
              <a:t>Quelle: </a:t>
            </a:r>
            <a:r>
              <a:rPr lang="de-CH" sz="1000" dirty="0">
                <a:hlinkClick r:id="rId3"/>
              </a:rPr>
              <a:t>https://systemdr.substack.com/p/in-memory-databases-when-and-why</a:t>
            </a:r>
            <a:r>
              <a:rPr lang="de-CH" sz="1000" dirty="0"/>
              <a:t>, letzter Zugriff: 24/02/2026</a:t>
            </a:r>
            <a:endParaRPr lang="en-CH" sz="1000" dirty="0"/>
          </a:p>
        </p:txBody>
      </p:sp>
    </p:spTree>
    <p:extLst>
      <p:ext uri="{BB962C8B-B14F-4D97-AF65-F5344CB8AC3E}">
        <p14:creationId xmlns:p14="http://schemas.microsoft.com/office/powerpoint/2010/main" val="2374155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0AD75-039D-AE66-1CC5-BED503DE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33948-C206-F3B9-26AF-17FFFC03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D947D-13B8-E528-66D2-E83F52B32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Disk-basierte </a:t>
            </a:r>
            <a:r>
              <a:rPr lang="de-DE" b="1" dirty="0" err="1"/>
              <a:t>Tables</a:t>
            </a:r>
            <a:endParaRPr lang="de-DE" dirty="0"/>
          </a:p>
          <a:p>
            <a:r>
              <a:rPr lang="de-DE" dirty="0"/>
              <a:t>Datenseiten liegen auf Disk, werden in Buffer Cache geladen</a:t>
            </a:r>
          </a:p>
          <a:p>
            <a:r>
              <a:rPr lang="de-DE" dirty="0"/>
              <a:t>Speicherung page-basiert </a:t>
            </a:r>
          </a:p>
          <a:p>
            <a:r>
              <a:rPr lang="de-DE" dirty="0"/>
              <a:t>Indexseiten werden im Transaktionslog protokolliert</a:t>
            </a:r>
          </a:p>
          <a:p>
            <a:r>
              <a:rPr lang="de-DE" dirty="0" err="1"/>
              <a:t>Locking</a:t>
            </a:r>
            <a:r>
              <a:rPr lang="de-DE" dirty="0"/>
              <a:t>/</a:t>
            </a:r>
            <a:r>
              <a:rPr lang="de-DE" dirty="0" err="1"/>
              <a:t>Latching</a:t>
            </a:r>
            <a:r>
              <a:rPr lang="de-DE" dirty="0"/>
              <a:t>, klassische B-</a:t>
            </a:r>
            <a:r>
              <a:rPr lang="de-DE" dirty="0" err="1"/>
              <a:t>Tree</a:t>
            </a:r>
            <a:r>
              <a:rPr lang="de-DE" dirty="0"/>
              <a:t>-Indizes</a:t>
            </a:r>
          </a:p>
          <a:p>
            <a:r>
              <a:rPr lang="de-DE" dirty="0"/>
              <a:t>Page Fragmentierung (bedarf </a:t>
            </a:r>
            <a:r>
              <a:rPr lang="de-DE" dirty="0" err="1"/>
              <a:t>Rebuild</a:t>
            </a:r>
            <a:r>
              <a:rPr lang="de-DE" dirty="0"/>
              <a:t>/</a:t>
            </a:r>
            <a:r>
              <a:rPr lang="de-DE" dirty="0" err="1"/>
              <a:t>Reorganize</a:t>
            </a:r>
            <a:r>
              <a:rPr lang="de-DE" dirty="0"/>
              <a:t> von Indizes)</a:t>
            </a:r>
          </a:p>
          <a:p>
            <a:endParaRPr lang="en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12701-2DCD-1B3C-67B8-A27351E384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Memory-Optimized Tables</a:t>
            </a:r>
            <a:endParaRPr lang="en-GB" dirty="0"/>
          </a:p>
          <a:p>
            <a:r>
              <a:rPr lang="en-GB" dirty="0" err="1"/>
              <a:t>Daten</a:t>
            </a:r>
            <a:r>
              <a:rPr lang="en-GB" dirty="0"/>
              <a:t> </a:t>
            </a:r>
            <a:r>
              <a:rPr lang="en-GB" dirty="0" err="1"/>
              <a:t>dauerhaft</a:t>
            </a:r>
            <a:r>
              <a:rPr lang="en-GB" dirty="0"/>
              <a:t> </a:t>
            </a:r>
            <a:r>
              <a:rPr lang="en-GB" dirty="0" err="1"/>
              <a:t>im</a:t>
            </a:r>
            <a:r>
              <a:rPr lang="en-GB" dirty="0"/>
              <a:t> </a:t>
            </a:r>
            <a:r>
              <a:rPr lang="en-GB" b="1" dirty="0"/>
              <a:t>Memory-Optimized Filegroup</a:t>
            </a:r>
            <a:r>
              <a:rPr lang="en-GB" dirty="0"/>
              <a:t> </a:t>
            </a:r>
            <a:r>
              <a:rPr lang="en-GB" dirty="0" err="1"/>
              <a:t>im</a:t>
            </a:r>
            <a:r>
              <a:rPr lang="en-GB" dirty="0"/>
              <a:t> RAM</a:t>
            </a:r>
          </a:p>
          <a:p>
            <a:r>
              <a:rPr lang="en-GB" dirty="0" err="1"/>
              <a:t>Spezielle</a:t>
            </a:r>
            <a:r>
              <a:rPr lang="en-GB" dirty="0"/>
              <a:t> Filegroup </a:t>
            </a:r>
            <a:r>
              <a:rPr lang="en-GB" dirty="0" err="1"/>
              <a:t>MEMORY_OPTIMIZED_DATA</a:t>
            </a:r>
            <a:r>
              <a:rPr lang="en-GB" dirty="0"/>
              <a:t>, Durability-</a:t>
            </a:r>
            <a:r>
              <a:rPr lang="en-GB" dirty="0" err="1"/>
              <a:t>Optionen</a:t>
            </a:r>
            <a:endParaRPr lang="en-GB" dirty="0"/>
          </a:p>
          <a:p>
            <a:r>
              <a:rPr lang="en-GB" dirty="0" err="1"/>
              <a:t>Persistierung</a:t>
            </a:r>
            <a:r>
              <a:rPr lang="en-GB" dirty="0"/>
              <a:t> von </a:t>
            </a:r>
            <a:r>
              <a:rPr lang="en-GB" dirty="0" err="1"/>
              <a:t>Indexdefinitionen</a:t>
            </a:r>
            <a:r>
              <a:rPr lang="en-GB" dirty="0"/>
              <a:t>. Aufbau </a:t>
            </a:r>
            <a:r>
              <a:rPr lang="en-GB" dirty="0" err="1"/>
              <a:t>Indexe</a:t>
            </a:r>
            <a:r>
              <a:rPr lang="en-GB" dirty="0"/>
              <a:t> </a:t>
            </a:r>
            <a:r>
              <a:rPr lang="en-GB" dirty="0" err="1"/>
              <a:t>bei</a:t>
            </a:r>
            <a:r>
              <a:rPr lang="en-GB" dirty="0"/>
              <a:t> </a:t>
            </a:r>
            <a:r>
              <a:rPr lang="en-GB" dirty="0" err="1"/>
              <a:t>Datenbankstart</a:t>
            </a:r>
            <a:r>
              <a:rPr lang="en-GB" dirty="0"/>
              <a:t>.</a:t>
            </a:r>
          </a:p>
          <a:p>
            <a:pPr lvl="1"/>
            <a:r>
              <a:rPr lang="en-GB" dirty="0" err="1"/>
              <a:t>V.a.</a:t>
            </a:r>
            <a:r>
              <a:rPr lang="en-GB" dirty="0"/>
              <a:t> Hash </a:t>
            </a:r>
            <a:r>
              <a:rPr lang="en-GB" dirty="0" err="1"/>
              <a:t>Indizes</a:t>
            </a:r>
            <a:r>
              <a:rPr lang="en-GB" dirty="0"/>
              <a:t> / </a:t>
            </a:r>
            <a:r>
              <a:rPr lang="en-GB" dirty="0" err="1"/>
              <a:t>Bw_Tree-Basierte</a:t>
            </a:r>
            <a:r>
              <a:rPr lang="en-GB" dirty="0"/>
              <a:t> Range </a:t>
            </a:r>
            <a:r>
              <a:rPr lang="en-GB" dirty="0" err="1"/>
              <a:t>Indizes</a:t>
            </a:r>
            <a:r>
              <a:rPr lang="en-GB" dirty="0"/>
              <a:t> </a:t>
            </a:r>
          </a:p>
          <a:p>
            <a:r>
              <a:rPr lang="en-GB" dirty="0"/>
              <a:t>Lock-</a:t>
            </a:r>
            <a:r>
              <a:rPr lang="en-GB" dirty="0" err="1"/>
              <a:t>freie</a:t>
            </a:r>
            <a:r>
              <a:rPr lang="en-GB" dirty="0"/>
              <a:t>, </a:t>
            </a:r>
            <a:r>
              <a:rPr lang="en-GB" dirty="0" err="1"/>
              <a:t>optimistische</a:t>
            </a:r>
            <a:r>
              <a:rPr lang="en-GB" dirty="0"/>
              <a:t> multi-version Concurrency-Modell MVCC-</a:t>
            </a:r>
            <a:r>
              <a:rPr lang="en-GB" dirty="0" err="1"/>
              <a:t>Struktur</a:t>
            </a:r>
            <a:endParaRPr lang="en-GB" dirty="0"/>
          </a:p>
          <a:p>
            <a:r>
              <a:rPr lang="en-GB" dirty="0"/>
              <a:t>Alte </a:t>
            </a:r>
            <a:r>
              <a:rPr lang="en-GB" dirty="0" err="1"/>
              <a:t>Zeilenversionen</a:t>
            </a:r>
            <a:r>
              <a:rPr lang="en-GB" dirty="0"/>
              <a:t> </a:t>
            </a:r>
            <a:r>
              <a:rPr lang="en-GB" dirty="0" err="1"/>
              <a:t>müssen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Merge thread </a:t>
            </a:r>
            <a:r>
              <a:rPr lang="en-GB" dirty="0" err="1"/>
              <a:t>zusammengeführt</a:t>
            </a:r>
            <a:r>
              <a:rPr lang="en-GB" dirty="0"/>
              <a:t> </a:t>
            </a:r>
            <a:r>
              <a:rPr lang="en-GB" dirty="0" err="1"/>
              <a:t>werden</a:t>
            </a:r>
            <a:endParaRPr lang="en-GB" dirty="0"/>
          </a:p>
          <a:p>
            <a:endParaRPr lang="en-GB" dirty="0"/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58852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3E433-A8DF-825B-9DB9-C664B8AA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BFFC2-A881-D7FD-A72F-A2BEFA44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Kurzdemo</a:t>
            </a:r>
            <a:r>
              <a:rPr lang="de-CH" dirty="0"/>
              <a:t> Performance Vergleich </a:t>
            </a:r>
            <a:r>
              <a:rPr lang="de-CH" dirty="0" err="1"/>
              <a:t>SSMS</a:t>
            </a:r>
            <a:r>
              <a:rPr lang="de-CH" dirty="0"/>
              <a:t> 2022 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2EE5AC-CE26-E9B8-3647-F8A110D8DF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Set </a:t>
            </a:r>
            <a:r>
              <a:rPr lang="de-CH" dirty="0" err="1"/>
              <a:t>up</a:t>
            </a:r>
            <a:r>
              <a:rPr lang="de-CH" dirty="0"/>
              <a:t>:</a:t>
            </a:r>
          </a:p>
          <a:p>
            <a:pPr>
              <a:buFontTx/>
              <a:buChar char="-"/>
            </a:pPr>
            <a:r>
              <a:rPr lang="de-CH" dirty="0"/>
              <a:t>Windows SQL Server 2025 </a:t>
            </a:r>
            <a:r>
              <a:rPr lang="de-CH" dirty="0">
                <a:hlinkClick r:id="rId2"/>
              </a:rPr>
              <a:t>Developer</a:t>
            </a:r>
            <a:endParaRPr lang="de-CH" dirty="0"/>
          </a:p>
          <a:p>
            <a:pPr>
              <a:buFontTx/>
              <a:buChar char="-"/>
            </a:pPr>
            <a:r>
              <a:rPr lang="de-CH" dirty="0" err="1"/>
              <a:t>SSMS</a:t>
            </a:r>
            <a:r>
              <a:rPr lang="de-CH" dirty="0"/>
              <a:t> 2022: </a:t>
            </a:r>
            <a:r>
              <a:rPr lang="de-CH" dirty="0">
                <a:hlinkClick r:id="rId3"/>
              </a:rPr>
              <a:t>Download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Datenset: </a:t>
            </a:r>
            <a:r>
              <a:rPr lang="de-CH" dirty="0">
                <a:hlinkClick r:id="rId4"/>
              </a:rPr>
              <a:t>Wide World </a:t>
            </a:r>
            <a:r>
              <a:rPr lang="de-CH" dirty="0" err="1">
                <a:hlinkClick r:id="rId4"/>
              </a:rPr>
              <a:t>Importers</a:t>
            </a:r>
            <a:endParaRPr lang="en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8E56D0-45AD-947F-1350-177E4D921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948" y="1978913"/>
            <a:ext cx="5351212" cy="42149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E6AE895-3373-E405-3901-951DE9F3D2A3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81012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AB87D-042C-9599-0E1E-901F1CB9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3BE6-32B3-569B-9511-F95682EE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Fazit Performance Vergleich (Laufzeiten)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E6187-F2C6-1DE1-025F-A948A7E746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D31613-891E-B444-41DB-99A550AFC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948" y="1978913"/>
            <a:ext cx="5351212" cy="42149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886748E-2E7F-DD4F-824A-BD1658CD26EF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999890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C703F-356B-6790-BD49-86B5C9625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EDAB0-92BA-B0E8-8E92-256C22AAF7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CH" dirty="0"/>
              <a:t>Vorteile «in Memory» Table</a:t>
            </a:r>
          </a:p>
          <a:p>
            <a:pPr marL="0" indent="0">
              <a:buNone/>
            </a:pPr>
            <a:r>
              <a:rPr lang="de-CH" dirty="0" err="1"/>
              <a:t>Optimization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CPU Cache Efficiency</a:t>
            </a:r>
          </a:p>
          <a:p>
            <a:pPr marL="0" indent="0">
              <a:buNone/>
            </a:pPr>
            <a:r>
              <a:rPr lang="de-CH" dirty="0"/>
              <a:t>Lock Free </a:t>
            </a:r>
            <a:r>
              <a:rPr lang="de-CH" dirty="0" err="1"/>
              <a:t>Algorithms</a:t>
            </a:r>
            <a:r>
              <a:rPr lang="de-CH" dirty="0"/>
              <a:t> (possible </a:t>
            </a:r>
            <a:r>
              <a:rPr lang="de-CH" dirty="0" err="1"/>
              <a:t>true</a:t>
            </a:r>
            <a:r>
              <a:rPr lang="de-CH" dirty="0"/>
              <a:t> </a:t>
            </a:r>
            <a:r>
              <a:rPr lang="de-CH" dirty="0" err="1"/>
              <a:t>parallelism</a:t>
            </a:r>
            <a:r>
              <a:rPr lang="de-CH" dirty="0"/>
              <a:t>)</a:t>
            </a:r>
          </a:p>
          <a:p>
            <a:pPr marL="0" indent="0">
              <a:buNone/>
            </a:pPr>
            <a:r>
              <a:rPr lang="de-CH" dirty="0" err="1"/>
              <a:t>Reduced</a:t>
            </a:r>
            <a:r>
              <a:rPr lang="de-CH" dirty="0"/>
              <a:t> </a:t>
            </a:r>
            <a:r>
              <a:rPr lang="de-CH" dirty="0" err="1"/>
              <a:t>serialization</a:t>
            </a:r>
            <a:r>
              <a:rPr lang="de-CH" dirty="0"/>
              <a:t> </a:t>
            </a:r>
            <a:r>
              <a:rPr lang="de-CH" dirty="0" err="1"/>
              <a:t>overhead</a:t>
            </a:r>
            <a:r>
              <a:rPr lang="de-CH" dirty="0"/>
              <a:t> (</a:t>
            </a: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serialize</a:t>
            </a:r>
            <a:r>
              <a:rPr lang="de-CH" dirty="0"/>
              <a:t> </a:t>
            </a:r>
            <a:r>
              <a:rPr lang="de-CH" dirty="0" err="1"/>
              <a:t>between</a:t>
            </a:r>
            <a:r>
              <a:rPr lang="de-CH" dirty="0"/>
              <a:t> </a:t>
            </a:r>
            <a:r>
              <a:rPr lang="de-CH" dirty="0" err="1"/>
              <a:t>disk</a:t>
            </a:r>
            <a:r>
              <a:rPr lang="de-CH" dirty="0"/>
              <a:t> and 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saving</a:t>
            </a:r>
            <a:r>
              <a:rPr lang="de-CH" dirty="0"/>
              <a:t> </a:t>
            </a:r>
            <a:r>
              <a:rPr lang="de-CH" dirty="0" err="1"/>
              <a:t>cpu</a:t>
            </a:r>
            <a:r>
              <a:rPr lang="de-CH" dirty="0"/>
              <a:t> </a:t>
            </a:r>
            <a:r>
              <a:rPr lang="de-CH" dirty="0" err="1"/>
              <a:t>cycles</a:t>
            </a:r>
            <a:r>
              <a:rPr lang="de-CH" dirty="0"/>
              <a:t>)</a:t>
            </a:r>
          </a:p>
          <a:p>
            <a:pPr marL="0" indent="0">
              <a:buNone/>
            </a:pPr>
            <a:r>
              <a:rPr lang="de-CH" dirty="0" err="1"/>
              <a:t>Predicateble</a:t>
            </a:r>
            <a:r>
              <a:rPr lang="de-CH" dirty="0"/>
              <a:t> </a:t>
            </a:r>
            <a:r>
              <a:rPr lang="de-CH" dirty="0" err="1"/>
              <a:t>performance</a:t>
            </a:r>
            <a:r>
              <a:rPr lang="de-CH" dirty="0"/>
              <a:t> (</a:t>
            </a:r>
            <a:r>
              <a:rPr lang="de-CH" dirty="0" err="1"/>
              <a:t>No</a:t>
            </a:r>
            <a:r>
              <a:rPr lang="de-CH" dirty="0"/>
              <a:t> I/O </a:t>
            </a:r>
            <a:r>
              <a:rPr lang="de-CH" dirty="0" err="1"/>
              <a:t>variance</a:t>
            </a:r>
            <a:r>
              <a:rPr lang="de-CH" dirty="0"/>
              <a:t>) essential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systems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</a:t>
            </a:r>
            <a:r>
              <a:rPr lang="de-CH" dirty="0" err="1"/>
              <a:t>strict</a:t>
            </a:r>
            <a:r>
              <a:rPr lang="de-CH" dirty="0"/>
              <a:t> SLA (Service Level Agreements)</a:t>
            </a:r>
          </a:p>
          <a:p>
            <a:pPr marL="0" indent="0">
              <a:buNone/>
            </a:pPr>
            <a:endParaRPr lang="de-CH" dirty="0"/>
          </a:p>
          <a:p>
            <a:pPr>
              <a:buFontTx/>
              <a:buChar char="-"/>
            </a:pPr>
            <a:r>
              <a:rPr lang="de-CH" dirty="0"/>
              <a:t>Fast </a:t>
            </a:r>
            <a:r>
              <a:rPr lang="de-CH" dirty="0" err="1"/>
              <a:t>response</a:t>
            </a:r>
            <a:r>
              <a:rPr lang="de-CH" dirty="0"/>
              <a:t> (</a:t>
            </a:r>
            <a:r>
              <a:rPr lang="de-CH" dirty="0" err="1"/>
              <a:t>ms</a:t>
            </a:r>
            <a:r>
              <a:rPr lang="de-CH" dirty="0"/>
              <a:t>)</a:t>
            </a:r>
          </a:p>
          <a:p>
            <a:pPr lvl="1">
              <a:buFontTx/>
              <a:buChar char="-"/>
            </a:pPr>
            <a:r>
              <a:rPr lang="de-CH" dirty="0"/>
              <a:t>High </a:t>
            </a:r>
            <a:r>
              <a:rPr lang="de-CH" dirty="0" err="1"/>
              <a:t>frequency</a:t>
            </a:r>
            <a:r>
              <a:rPr lang="de-CH" dirty="0"/>
              <a:t> </a:t>
            </a:r>
            <a:r>
              <a:rPr lang="de-CH" dirty="0" err="1"/>
              <a:t>trading</a:t>
            </a:r>
            <a:endParaRPr lang="de-CH" dirty="0"/>
          </a:p>
          <a:p>
            <a:pPr lvl="1">
              <a:buFontTx/>
              <a:buChar char="-"/>
            </a:pPr>
            <a:r>
              <a:rPr lang="de-CH" dirty="0" err="1"/>
              <a:t>Bidding</a:t>
            </a:r>
            <a:r>
              <a:rPr lang="de-CH" dirty="0"/>
              <a:t> </a:t>
            </a:r>
            <a:r>
              <a:rPr lang="de-CH" dirty="0" err="1"/>
              <a:t>platforms</a:t>
            </a:r>
            <a:endParaRPr lang="de-CH" dirty="0"/>
          </a:p>
          <a:p>
            <a:pPr lvl="1">
              <a:buFontTx/>
              <a:buChar char="-"/>
            </a:pPr>
            <a:r>
              <a:rPr lang="de-CH" dirty="0" err="1"/>
              <a:t>Reduce</a:t>
            </a:r>
            <a:r>
              <a:rPr lang="de-CH" dirty="0"/>
              <a:t> </a:t>
            </a:r>
            <a:r>
              <a:rPr lang="de-CH" dirty="0" err="1"/>
              <a:t>payent</a:t>
            </a:r>
            <a:r>
              <a:rPr lang="de-CH" dirty="0"/>
              <a:t> </a:t>
            </a:r>
            <a:r>
              <a:rPr lang="de-CH" dirty="0" err="1"/>
              <a:t>processing</a:t>
            </a:r>
            <a:r>
              <a:rPr lang="de-CH" dirty="0"/>
              <a:t> </a:t>
            </a:r>
            <a:r>
              <a:rPr lang="de-CH" dirty="0" err="1"/>
              <a:t>latency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moving</a:t>
            </a:r>
            <a:r>
              <a:rPr lang="de-CH" dirty="0"/>
              <a:t> </a:t>
            </a:r>
            <a:r>
              <a:rPr lang="de-CH" dirty="0" err="1"/>
              <a:t>authentication</a:t>
            </a:r>
            <a:r>
              <a:rPr lang="de-CH" dirty="0"/>
              <a:t> </a:t>
            </a:r>
            <a:r>
              <a:rPr lang="de-CH" dirty="0" err="1"/>
              <a:t>tokens</a:t>
            </a:r>
            <a:endParaRPr lang="de-CH" dirty="0"/>
          </a:p>
          <a:p>
            <a:pPr marL="228600" lvl="1" indent="0">
              <a:buNone/>
            </a:pPr>
            <a:r>
              <a:rPr lang="de-CH" dirty="0"/>
              <a:t>Traffic </a:t>
            </a:r>
            <a:r>
              <a:rPr lang="de-CH" dirty="0" err="1"/>
              <a:t>spikes</a:t>
            </a:r>
            <a:r>
              <a:rPr lang="de-CH" dirty="0"/>
              <a:t> (Netflix (</a:t>
            </a:r>
            <a:r>
              <a:rPr lang="de-CH" dirty="0" err="1"/>
              <a:t>EvCache</a:t>
            </a:r>
            <a:r>
              <a:rPr lang="de-CH" dirty="0"/>
              <a:t>) </a:t>
            </a:r>
          </a:p>
          <a:p>
            <a:pPr marL="228600" lvl="1" indent="0">
              <a:buNone/>
            </a:pPr>
            <a:r>
              <a:rPr lang="de-CH" dirty="0" err="1"/>
              <a:t>Complex</a:t>
            </a:r>
            <a:r>
              <a:rPr lang="de-CH" dirty="0"/>
              <a:t> </a:t>
            </a:r>
            <a:r>
              <a:rPr lang="de-CH" dirty="0" err="1"/>
              <a:t>data</a:t>
            </a:r>
            <a:r>
              <a:rPr lang="de-CH" dirty="0"/>
              <a:t> </a:t>
            </a:r>
            <a:r>
              <a:rPr lang="de-CH" dirty="0" err="1"/>
              <a:t>operations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7F73D-6562-3767-79B6-BB7AD2175159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F9AE33-FF9F-F082-6024-01F13B772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Vor- und Nachteile  Memory </a:t>
            </a:r>
            <a:r>
              <a:rPr lang="de-CH" dirty="0" err="1"/>
              <a:t>Optimized</a:t>
            </a:r>
            <a:r>
              <a:rPr lang="de-CH" dirty="0"/>
              <a:t>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95D688A-C6E7-DE12-6A34-6AD9356B2CC8}"/>
              </a:ext>
            </a:extLst>
          </p:cNvPr>
          <p:cNvSpPr txBox="1">
            <a:spLocks/>
          </p:cNvSpPr>
          <p:nvPr/>
        </p:nvSpPr>
        <p:spPr>
          <a:xfrm>
            <a:off x="6174536" y="2170176"/>
            <a:ext cx="5166360" cy="4184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Nachteile «in Memory» Table</a:t>
            </a:r>
          </a:p>
          <a:p>
            <a:pPr>
              <a:buFontTx/>
              <a:buChar char="-"/>
            </a:pPr>
            <a:r>
              <a:rPr lang="de-CH" dirty="0"/>
              <a:t>Recovery </a:t>
            </a:r>
            <a:r>
              <a:rPr lang="de-CH" dirty="0" err="1"/>
              <a:t>planning</a:t>
            </a:r>
            <a:r>
              <a:rPr lang="de-CH" dirty="0"/>
              <a:t> </a:t>
            </a:r>
            <a:r>
              <a:rPr lang="de-CH" dirty="0" err="1"/>
              <a:t>becomes</a:t>
            </a:r>
            <a:r>
              <a:rPr lang="de-CH" dirty="0"/>
              <a:t> </a:t>
            </a:r>
            <a:r>
              <a:rPr lang="de-CH" dirty="0" err="1"/>
              <a:t>critical</a:t>
            </a:r>
            <a:r>
              <a:rPr lang="de-CH" dirty="0"/>
              <a:t> (</a:t>
            </a:r>
            <a:r>
              <a:rPr lang="de-CH" dirty="0" err="1"/>
              <a:t>cold</a:t>
            </a:r>
            <a:r>
              <a:rPr lang="de-CH" dirty="0"/>
              <a:t> </a:t>
            </a:r>
            <a:r>
              <a:rPr lang="de-CH" dirty="0" err="1"/>
              <a:t>starts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</a:t>
            </a:r>
            <a:r>
              <a:rPr lang="de-CH" dirty="0" err="1"/>
              <a:t>empty</a:t>
            </a:r>
            <a:r>
              <a:rPr lang="de-CH" dirty="0"/>
              <a:t> </a:t>
            </a:r>
            <a:r>
              <a:rPr lang="de-CH" dirty="0" err="1"/>
              <a:t>caches</a:t>
            </a:r>
            <a:r>
              <a:rPr lang="de-CH" dirty="0"/>
              <a:t>) </a:t>
            </a:r>
            <a:r>
              <a:rPr lang="de-CH" dirty="0" err="1"/>
              <a:t>load</a:t>
            </a:r>
            <a:r>
              <a:rPr lang="de-CH" dirty="0"/>
              <a:t> </a:t>
            </a:r>
            <a:r>
              <a:rPr lang="de-CH" dirty="0" err="1"/>
              <a:t>data</a:t>
            </a:r>
            <a:r>
              <a:rPr lang="de-CH" dirty="0"/>
              <a:t> in </a:t>
            </a:r>
            <a:r>
              <a:rPr lang="de-CH" dirty="0" err="1"/>
              <a:t>batches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Memory </a:t>
            </a:r>
            <a:r>
              <a:rPr lang="de-CH" dirty="0" err="1"/>
              <a:t>fragmentation</a:t>
            </a:r>
            <a:r>
              <a:rPr lang="de-CH" dirty="0"/>
              <a:t> (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fragmentation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degrade</a:t>
            </a:r>
            <a:r>
              <a:rPr lang="de-CH" dirty="0"/>
              <a:t> </a:t>
            </a:r>
            <a:r>
              <a:rPr lang="de-CH" dirty="0" err="1"/>
              <a:t>performance</a:t>
            </a:r>
            <a:r>
              <a:rPr lang="de-CH" dirty="0"/>
              <a:t> </a:t>
            </a:r>
            <a:r>
              <a:rPr lang="de-CH" dirty="0" err="1"/>
              <a:t>over</a:t>
            </a:r>
            <a:r>
              <a:rPr lang="de-CH" dirty="0"/>
              <a:t> time) -&gt; plan </a:t>
            </a:r>
            <a:r>
              <a:rPr lang="de-CH" dirty="0" err="1"/>
              <a:t>regular</a:t>
            </a:r>
            <a:r>
              <a:rPr lang="de-CH" dirty="0"/>
              <a:t> </a:t>
            </a:r>
            <a:r>
              <a:rPr lang="de-CH" dirty="0" err="1"/>
              <a:t>restarts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Data </a:t>
            </a:r>
            <a:r>
              <a:rPr lang="de-CH" dirty="0" err="1"/>
              <a:t>structure</a:t>
            </a:r>
            <a:r>
              <a:rPr lang="de-CH" dirty="0"/>
              <a:t> </a:t>
            </a:r>
            <a:r>
              <a:rPr lang="de-CH" dirty="0" err="1"/>
              <a:t>selection</a:t>
            </a:r>
            <a:r>
              <a:rPr lang="de-CH" dirty="0"/>
              <a:t> </a:t>
            </a:r>
            <a:r>
              <a:rPr lang="de-CH" dirty="0" err="1"/>
              <a:t>matters</a:t>
            </a:r>
            <a:r>
              <a:rPr lang="de-CH" dirty="0"/>
              <a:t> </a:t>
            </a:r>
            <a:r>
              <a:rPr lang="de-CH" dirty="0" err="1"/>
              <a:t>enormously</a:t>
            </a:r>
            <a:r>
              <a:rPr lang="de-CH" dirty="0"/>
              <a:t>. Switch </a:t>
            </a:r>
            <a:r>
              <a:rPr lang="de-CH" dirty="0" err="1"/>
              <a:t>from</a:t>
            </a:r>
            <a:r>
              <a:rPr lang="de-CH" dirty="0"/>
              <a:t> </a:t>
            </a:r>
            <a:r>
              <a:rPr lang="de-CH" dirty="0" err="1"/>
              <a:t>hash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specialized</a:t>
            </a:r>
            <a:r>
              <a:rPr lang="de-CH" dirty="0"/>
              <a:t> </a:t>
            </a:r>
            <a:r>
              <a:rPr lang="de-CH" dirty="0" err="1"/>
              <a:t>radic</a:t>
            </a:r>
            <a:r>
              <a:rPr lang="de-CH" dirty="0"/>
              <a:t> </a:t>
            </a:r>
            <a:r>
              <a:rPr lang="de-CH" dirty="0" err="1"/>
              <a:t>trees</a:t>
            </a:r>
            <a:r>
              <a:rPr lang="de-CH" dirty="0"/>
              <a:t> </a:t>
            </a:r>
            <a:r>
              <a:rPr lang="de-CH" dirty="0" err="1"/>
              <a:t>improvement</a:t>
            </a:r>
            <a:r>
              <a:rPr lang="de-CH" dirty="0"/>
              <a:t>? 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19485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697AA-130A-5063-F648-A78B3322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C6B2A-59DB-929B-9ED2-498F1EF977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Vorteile «in Memory» Table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Sehr gute </a:t>
            </a:r>
            <a:r>
              <a:rPr lang="de-CH" dirty="0" err="1"/>
              <a:t>performance</a:t>
            </a:r>
            <a:r>
              <a:rPr lang="de-CH" dirty="0"/>
              <a:t> bei passendem OLTP Workloads (z.B. vielen kurzen Transaktionen, Hot </a:t>
            </a:r>
            <a:r>
              <a:rPr lang="de-CH" dirty="0" err="1"/>
              <a:t>Tables</a:t>
            </a:r>
            <a:r>
              <a:rPr lang="de-CH" dirty="0"/>
              <a:t>, Sessions- oder Queue Tabellen)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16D7DB-5E2A-6B86-41D0-E5CBC398E3E8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3DC06B-5030-4835-4B43-6F2243728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Beispiel Nachteil Memory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vs</a:t>
            </a:r>
            <a:r>
              <a:rPr lang="de-CH" dirty="0"/>
              <a:t>  «in </a:t>
            </a:r>
            <a:r>
              <a:rPr lang="de-CH" dirty="0" err="1"/>
              <a:t>disk</a:t>
            </a:r>
            <a:r>
              <a:rPr lang="de-CH" dirty="0"/>
              <a:t>»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60107AE-A633-3686-BA66-ABC783266DDF}"/>
              </a:ext>
            </a:extLst>
          </p:cNvPr>
          <p:cNvSpPr txBox="1">
            <a:spLocks/>
          </p:cNvSpPr>
          <p:nvPr/>
        </p:nvSpPr>
        <p:spPr>
          <a:xfrm>
            <a:off x="6174536" y="2170176"/>
            <a:ext cx="5166360" cy="4184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Nachteile «in Memory» Table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CH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Über RAM begrenzt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Datentypen Constraints</a:t>
            </a:r>
          </a:p>
        </p:txBody>
      </p:sp>
    </p:spTree>
    <p:extLst>
      <p:ext uri="{BB962C8B-B14F-4D97-AF65-F5344CB8AC3E}">
        <p14:creationId xmlns:p14="http://schemas.microsoft.com/office/powerpoint/2010/main" val="335068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60989-2BA5-C934-C371-59ABD89AF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Anhang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73E59-A7C9-BFB4-08BB-DC39FC4EDCD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32292" y="1103861"/>
            <a:ext cx="4060072" cy="1797350"/>
          </a:xfrm>
        </p:spPr>
        <p:txBody>
          <a:bodyPr/>
          <a:lstStyle/>
          <a:p>
            <a:r>
              <a:rPr lang="de-DE" dirty="0"/>
              <a:t>In einer Transaktion können beide Typen kombiniert werden, meist mit READ </a:t>
            </a:r>
            <a:r>
              <a:rPr lang="de-DE" dirty="0" err="1"/>
              <a:t>COMMITTED</a:t>
            </a:r>
            <a:r>
              <a:rPr lang="de-DE" dirty="0"/>
              <a:t> für Disk‑Tabellen und </a:t>
            </a:r>
            <a:r>
              <a:rPr lang="de-DE" dirty="0" err="1"/>
              <a:t>SERIALIZABLE</a:t>
            </a:r>
            <a:r>
              <a:rPr lang="de-DE" dirty="0"/>
              <a:t>‑ähnlicher Isolation für in </a:t>
            </a:r>
            <a:r>
              <a:rPr lang="de-DE" dirty="0" err="1"/>
              <a:t>memory</a:t>
            </a:r>
            <a:r>
              <a:rPr lang="de-DE" dirty="0"/>
              <a:t> Tabellen</a:t>
            </a:r>
            <a:endParaRPr lang="en-CH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32A028-81D2-DDC3-10A8-350E9A730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196458"/>
              </p:ext>
            </p:extLst>
          </p:nvPr>
        </p:nvGraphicFramePr>
        <p:xfrm>
          <a:off x="612648" y="1554520"/>
          <a:ext cx="5770512" cy="4581104"/>
        </p:xfrm>
        <a:graphic>
          <a:graphicData uri="http://schemas.openxmlformats.org/drawingml/2006/table">
            <a:tbl>
              <a:tblPr/>
              <a:tblGrid>
                <a:gridCol w="1923504">
                  <a:extLst>
                    <a:ext uri="{9D8B030D-6E8A-4147-A177-3AD203B41FA5}">
                      <a16:colId xmlns:a16="http://schemas.microsoft.com/office/drawing/2014/main" val="2619766692"/>
                    </a:ext>
                  </a:extLst>
                </a:gridCol>
                <a:gridCol w="1923504">
                  <a:extLst>
                    <a:ext uri="{9D8B030D-6E8A-4147-A177-3AD203B41FA5}">
                      <a16:colId xmlns:a16="http://schemas.microsoft.com/office/drawing/2014/main" val="18921312"/>
                    </a:ext>
                  </a:extLst>
                </a:gridCol>
                <a:gridCol w="1923504">
                  <a:extLst>
                    <a:ext uri="{9D8B030D-6E8A-4147-A177-3AD203B41FA5}">
                      <a16:colId xmlns:a16="http://schemas.microsoft.com/office/drawing/2014/main" val="1624438146"/>
                    </a:ext>
                  </a:extLst>
                </a:gridCol>
              </a:tblGrid>
              <a:tr h="325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n-GB" sz="900" dirty="0">
                        <a:effectLst/>
                      </a:endParaRP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>
                          <a:effectLst/>
                        </a:rPr>
                        <a:t>In Disk Table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>
                          <a:effectLst/>
                        </a:rPr>
                        <a:t>In Memory Table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954944"/>
                  </a:ext>
                </a:extLst>
              </a:tr>
              <a:tr h="51382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>
                          <a:effectLst/>
                        </a:rPr>
                        <a:t>Speicherort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Seiten auf Datenträger, Buffer Cache im RAM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Daten dauerhaft im RAM, Log/Daten/Delta auf Disk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8235710"/>
                  </a:ext>
                </a:extLst>
              </a:tr>
              <a:tr h="51382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>
                          <a:effectLst/>
                        </a:rPr>
                        <a:t>Struktur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8‑KB‑Seiten, eine Seite pro Tabelle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Zeilenbasiert, keine Seiten, Files können Zeilen mehrerer Tabellen enthalten. 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890668"/>
                  </a:ext>
                </a:extLst>
              </a:tr>
              <a:tr h="6583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>
                          <a:effectLst/>
                        </a:rPr>
                        <a:t>Indizes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 err="1">
                          <a:effectLst/>
                        </a:rPr>
                        <a:t>Persistierte</a:t>
                      </a:r>
                      <a:r>
                        <a:rPr lang="en-GB" sz="900" dirty="0">
                          <a:effectLst/>
                        </a:rPr>
                        <a:t> </a:t>
                      </a:r>
                      <a:r>
                        <a:rPr lang="en-GB" sz="900" dirty="0" err="1">
                          <a:effectLst/>
                        </a:rPr>
                        <a:t>Indexseiten</a:t>
                      </a:r>
                      <a:r>
                        <a:rPr lang="en-GB" sz="900" dirty="0">
                          <a:effectLst/>
                        </a:rPr>
                        <a:t>, </a:t>
                      </a:r>
                      <a:r>
                        <a:rPr lang="en-GB" sz="900" dirty="0" err="1">
                          <a:effectLst/>
                        </a:rPr>
                        <a:t>voll</a:t>
                      </a:r>
                      <a:r>
                        <a:rPr lang="en-GB" sz="900" dirty="0">
                          <a:effectLst/>
                        </a:rPr>
                        <a:t> </a:t>
                      </a:r>
                      <a:r>
                        <a:rPr lang="en-GB" sz="900" dirty="0" err="1">
                          <a:effectLst/>
                        </a:rPr>
                        <a:t>geloggt</a:t>
                      </a:r>
                      <a:r>
                        <a:rPr lang="en-GB" sz="900" dirty="0">
                          <a:effectLst/>
                        </a:rPr>
                        <a:t>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>
                          <a:effectLst/>
                        </a:rPr>
                        <a:t>Nur Definition persistent, Index </a:t>
                      </a:r>
                      <a:r>
                        <a:rPr lang="en-GB" sz="900" dirty="0" err="1">
                          <a:effectLst/>
                        </a:rPr>
                        <a:t>im</a:t>
                      </a:r>
                      <a:r>
                        <a:rPr lang="en-GB" sz="900" dirty="0">
                          <a:effectLst/>
                        </a:rPr>
                        <a:t> RAM, </a:t>
                      </a:r>
                      <a:r>
                        <a:rPr lang="en-GB" sz="900" dirty="0" err="1">
                          <a:effectLst/>
                        </a:rPr>
                        <a:t>kein</a:t>
                      </a:r>
                      <a:r>
                        <a:rPr lang="en-GB" sz="900" dirty="0">
                          <a:effectLst/>
                        </a:rPr>
                        <a:t> Logging der Index‑</a:t>
                      </a:r>
                      <a:r>
                        <a:rPr lang="en-GB" sz="900" dirty="0" err="1">
                          <a:effectLst/>
                        </a:rPr>
                        <a:t>Zeilen</a:t>
                      </a:r>
                      <a:endParaRPr lang="en-GB" sz="900" dirty="0">
                        <a:effectLst/>
                      </a:endParaRP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355456"/>
                  </a:ext>
                </a:extLst>
              </a:tr>
              <a:tr h="6583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 err="1">
                          <a:effectLst/>
                        </a:rPr>
                        <a:t>DML</a:t>
                      </a:r>
                      <a:r>
                        <a:rPr lang="en-GB" sz="900" dirty="0">
                          <a:effectLst/>
                        </a:rPr>
                        <a:t> (Data Manipulation Language)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Seiten laden, auf Seite ändern, Seiten zurückschreiben. 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Direkt im RAM, Log‑Thread schreibt Daten/Delta‑Dateien.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3453244"/>
                  </a:ext>
                </a:extLst>
              </a:tr>
              <a:tr h="3693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>
                          <a:effectLst/>
                        </a:rPr>
                        <a:t>Concurrency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Locks und Latches, potenziell Blockierungen.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Lock‑freie Strukturen, optimistisches </a:t>
                      </a:r>
                      <a:r>
                        <a:rPr lang="de-DE" sz="900" dirty="0" err="1">
                          <a:effectLst/>
                        </a:rPr>
                        <a:t>MVCC</a:t>
                      </a:r>
                      <a:endParaRPr lang="de-DE" sz="900" dirty="0">
                        <a:effectLst/>
                      </a:endParaRP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479551"/>
                  </a:ext>
                </a:extLst>
              </a:tr>
              <a:tr h="51382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>
                          <a:effectLst/>
                        </a:rPr>
                        <a:t>Fragmentierung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Page‑Fragmentierung, Index‑Wartung nötig.</a:t>
                      </a:r>
                    </a:p>
                    <a:p>
                      <a:pPr algn="l">
                        <a:buNone/>
                      </a:pPr>
                      <a:endParaRPr lang="de-DE" sz="900" dirty="0">
                        <a:effectLst/>
                      </a:endParaRP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900" dirty="0">
                          <a:effectLst/>
                        </a:rPr>
                        <a:t>Keine Page‑Fragmentierung, Hintergrund‑</a:t>
                      </a:r>
                      <a:r>
                        <a:rPr lang="de-DE" sz="900" dirty="0" err="1">
                          <a:effectLst/>
                        </a:rPr>
                        <a:t>MERGE</a:t>
                      </a:r>
                      <a:r>
                        <a:rPr lang="de-DE" sz="900" dirty="0">
                          <a:effectLst/>
                        </a:rPr>
                        <a:t> kompaktiert Files.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1073391"/>
                  </a:ext>
                </a:extLst>
              </a:tr>
              <a:tr h="51382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 err="1">
                          <a:effectLst/>
                        </a:rPr>
                        <a:t>DDL</a:t>
                      </a:r>
                      <a:r>
                        <a:rPr lang="en-GB" sz="900" dirty="0">
                          <a:effectLst/>
                        </a:rPr>
                        <a:t> (Data Definition Language)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00" dirty="0">
                          <a:effectLst/>
                        </a:rPr>
                        <a:t>Standard CREATE TABLE.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00" dirty="0" err="1">
                          <a:effectLst/>
                        </a:rPr>
                        <a:t>MEMORY_OPTIMIZED</a:t>
                      </a:r>
                      <a:r>
                        <a:rPr lang="en-US" sz="900" dirty="0">
                          <a:effectLst/>
                        </a:rPr>
                        <a:t> = ON, DURABILITY‑Option, </a:t>
                      </a:r>
                      <a:r>
                        <a:rPr lang="en-US" sz="900" dirty="0" err="1">
                          <a:effectLst/>
                        </a:rPr>
                        <a:t>spezielle</a:t>
                      </a:r>
                      <a:r>
                        <a:rPr lang="en-US" sz="900" dirty="0">
                          <a:effectLst/>
                        </a:rPr>
                        <a:t> Filegroup </a:t>
                      </a:r>
                      <a:r>
                        <a:rPr lang="en-US" sz="900" dirty="0" err="1">
                          <a:effectLst/>
                        </a:rPr>
                        <a:t>nötig</a:t>
                      </a:r>
                      <a:r>
                        <a:rPr lang="en-US" sz="900" dirty="0">
                          <a:effectLst/>
                        </a:rPr>
                        <a:t>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8630465"/>
                  </a:ext>
                </a:extLst>
              </a:tr>
              <a:tr h="51382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 err="1">
                          <a:effectLst/>
                        </a:rPr>
                        <a:t>Vorteil</a:t>
                      </a:r>
                      <a:r>
                        <a:rPr lang="en-GB" sz="900" dirty="0">
                          <a:effectLst/>
                        </a:rPr>
                        <a:t> </a:t>
                      </a:r>
                      <a:r>
                        <a:rPr lang="en-GB" sz="900" dirty="0" err="1">
                          <a:effectLst/>
                        </a:rPr>
                        <a:t>bei</a:t>
                      </a:r>
                      <a:endParaRPr lang="en-GB" sz="900" dirty="0">
                        <a:effectLst/>
                      </a:endParaRP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900" dirty="0">
                          <a:effectLst/>
                        </a:rPr>
                        <a:t>Allgemeine </a:t>
                      </a:r>
                      <a:r>
                        <a:rPr lang="en-GB" sz="900" dirty="0" err="1">
                          <a:effectLst/>
                        </a:rPr>
                        <a:t>OLTP</a:t>
                      </a:r>
                      <a:r>
                        <a:rPr lang="en-GB" sz="900" dirty="0">
                          <a:effectLst/>
                        </a:rPr>
                        <a:t>/Reporting‑</a:t>
                      </a:r>
                      <a:r>
                        <a:rPr lang="en-GB" sz="900" dirty="0" err="1">
                          <a:effectLst/>
                        </a:rPr>
                        <a:t>Tabellen</a:t>
                      </a:r>
                      <a:r>
                        <a:rPr lang="en-GB" sz="900" dirty="0">
                          <a:effectLst/>
                        </a:rPr>
                        <a:t>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00" dirty="0">
                          <a:effectLst/>
                        </a:rPr>
                        <a:t>High‑Throughput‑</a:t>
                      </a:r>
                      <a:r>
                        <a:rPr lang="en-US" sz="900" dirty="0" err="1">
                          <a:effectLst/>
                        </a:rPr>
                        <a:t>OLTP</a:t>
                      </a:r>
                      <a:r>
                        <a:rPr lang="en-US" sz="900" dirty="0">
                          <a:effectLst/>
                        </a:rPr>
                        <a:t>, Session‑State, Queues, Hot‑Lookups.</a:t>
                      </a:r>
                    </a:p>
                  </a:txBody>
                  <a:tcPr marL="40143" marR="40143" marT="40143" marB="40143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391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4400882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655</Words>
  <Application>Microsoft Office PowerPoint</Application>
  <PresentationFormat>Widescreen</PresentationFormat>
  <Paragraphs>91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Light</vt:lpstr>
      <vt:lpstr>Arial</vt:lpstr>
      <vt:lpstr>Chroma</vt:lpstr>
      <vt:lpstr>Memory Optimized Tables (MOT) in Microsoft SQL</vt:lpstr>
      <vt:lpstr>Aufgabe</vt:lpstr>
      <vt:lpstr>Unterschied «disk tables» vs «memory optimized tables»</vt:lpstr>
      <vt:lpstr>Unterschied «disk tables» vs «memory optimized tables»</vt:lpstr>
      <vt:lpstr>Kurzdemo Performance Vergleich SSMS 2022  </vt:lpstr>
      <vt:lpstr>Fazit Performance Vergleich (Laufzeiten) </vt:lpstr>
      <vt:lpstr>Vor- und Nachteile  Memory Optimized Table</vt:lpstr>
      <vt:lpstr>Beispiel Nachteil Memory Optimized vs  «in disk» Table</vt:lpstr>
      <vt:lpstr>Anhang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Vera Jäggi</dc:creator>
  <cp:lastModifiedBy>Vera Jäggi</cp:lastModifiedBy>
  <cp:revision>6</cp:revision>
  <dcterms:created xsi:type="dcterms:W3CDTF">2026-02-24T14:12:01Z</dcterms:created>
  <dcterms:modified xsi:type="dcterms:W3CDTF">2026-02-24T16:35:54Z</dcterms:modified>
</cp:coreProperties>
</file>