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sldIdLst>
    <p:sldId id="256" r:id="rId2"/>
    <p:sldId id="260" r:id="rId3"/>
    <p:sldId id="257" r:id="rId4"/>
    <p:sldId id="264" r:id="rId5"/>
    <p:sldId id="259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516" y="3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71E75-F7A2-7C1F-EF86-C5186E904883}"/>
              </a:ext>
            </a:extLst>
          </p:cNvPr>
          <p:cNvSpPr/>
          <p:nvPr/>
        </p:nvSpPr>
        <p:spPr>
          <a:xfrm>
            <a:off x="-4262" y="0"/>
            <a:ext cx="7547339" cy="6858002"/>
          </a:xfrm>
          <a:prstGeom prst="rect">
            <a:avLst/>
          </a:prstGeom>
          <a:gradFill>
            <a:gsLst>
              <a:gs pos="6000">
                <a:schemeClr val="accent5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4E0A7-C9D3-8408-2EE0-E46AF38E815F}"/>
              </a:ext>
            </a:extLst>
          </p:cNvPr>
          <p:cNvSpPr/>
          <p:nvPr/>
        </p:nvSpPr>
        <p:spPr>
          <a:xfrm rot="10800000">
            <a:off x="-4285" y="-3"/>
            <a:ext cx="7547361" cy="6857999"/>
          </a:xfrm>
          <a:prstGeom prst="rect">
            <a:avLst/>
          </a:prstGeom>
          <a:gradFill>
            <a:gsLst>
              <a:gs pos="43000">
                <a:schemeClr val="accent2">
                  <a:alpha val="0"/>
                </a:schemeClr>
              </a:gs>
              <a:gs pos="100000">
                <a:schemeClr val="accent2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3CB42-010B-9ABE-75EF-F502B4A9F42C}"/>
              </a:ext>
            </a:extLst>
          </p:cNvPr>
          <p:cNvSpPr/>
          <p:nvPr/>
        </p:nvSpPr>
        <p:spPr>
          <a:xfrm rot="16200000">
            <a:off x="1156173" y="-1160457"/>
            <a:ext cx="5226425" cy="7547338"/>
          </a:xfrm>
          <a:prstGeom prst="rect">
            <a:avLst/>
          </a:prstGeom>
          <a:gradFill>
            <a:gsLst>
              <a:gs pos="50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9CF56E-D922-4450-9794-8B0E1451F6EB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8528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95528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C96F-46D7-47BB-8945-9667BCB4F5BB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235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4845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CBE317-7590-8646-B2DB-5BED6EE8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4181134" y="3367319"/>
            <a:ext cx="6858000" cy="123363"/>
            <a:chOff x="-5025" y="6737718"/>
            <a:chExt cx="12207200" cy="1233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255D3-4FB2-87A8-E502-9CDE10990A3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15F704-CD21-A249-03F6-4F036D21400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/>
          <a:lstStyle/>
          <a:p>
            <a:fld id="{A6379DD5-AE65-4D02-9BCE-257CC17A63B7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9044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9DFFF819-4E26-4576-8A6D-DA055CFF682A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3889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449267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02ACF4-9E47-4D03-8EA6-1CE7E20F9165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55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FABB9A-1B5B-9306-B7B9-58E4E5E4EE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155489-796B-CDF9-06C2-583941E589F7}"/>
              </a:ext>
            </a:extLst>
          </p:cNvPr>
          <p:cNvGrpSpPr/>
          <p:nvPr/>
        </p:nvGrpSpPr>
        <p:grpSpPr>
          <a:xfrm>
            <a:off x="0" y="0"/>
            <a:ext cx="12192000" cy="6867144"/>
            <a:chOff x="0" y="-7622"/>
            <a:chExt cx="12192000" cy="689498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31A197-F740-DCA2-902E-29B890C31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C02513-E6E5-DFFD-29B1-02BE448BA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E184C5-789F-C980-F425-AF26045C8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6801FB-115C-F074-E428-F4A4A588B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88000"/>
                  </a:schemeClr>
                </a:gs>
                <a:gs pos="56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 anchorCtr="0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6584" y="3877056"/>
            <a:ext cx="7498080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F5B7-78E6-2702-0F8C-122F4D21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BEF7-236A-87FA-F0D9-F4515D81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82B809-8BB3-463C-8B5E-28962B4654D8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C8F0-DE20-1DBB-6A42-CBFFAE15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8470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F537-5E0E-4697-8198-FDF0E53F372F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648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/>
        </p:nvSpPr>
        <p:spPr>
          <a:xfrm rot="16200000" flipH="1">
            <a:off x="2666999" y="-2667000"/>
            <a:ext cx="6857999" cy="12192002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/>
        </p:nvSpPr>
        <p:spPr>
          <a:xfrm rot="5400000" flipH="1">
            <a:off x="2719785" y="-1537266"/>
            <a:ext cx="5669226" cy="11108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648303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4E7D34-A495-4E23-B1D1-F5D651D22AFE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9151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093976"/>
            <a:ext cx="7271895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6A96-D1F6-4A74-B023-FDE16753EDD7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7267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2662822" y="-2671180"/>
            <a:ext cx="6866356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1233479" y="361145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5C1F80-0989-4135-BEC0-53996BCA1D73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491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346B3B-D23C-46FC-82B4-EC936862EBB6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959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BA5514-C4EC-5772-F451-90A91C38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95E155-D254-47EB-52CD-C66E0A29E9A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47EE6D-F09F-E804-C40C-AB228BDE8E64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30EF3B0-9D02-EBD8-2D14-79BF34534AA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307" y="0"/>
            <a:ext cx="54132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834640"/>
            <a:ext cx="5138928" cy="299923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72784" y="6318504"/>
            <a:ext cx="3569956" cy="365760"/>
          </a:xfr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75652" y="6318504"/>
            <a:ext cx="1491507" cy="365760"/>
          </a:xfrm>
        </p:spPr>
        <p:txBody>
          <a:bodyPr/>
          <a:lstStyle/>
          <a:p>
            <a:fld id="{11039C6F-01AE-405F-93D2-431591D79461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5262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222436"/>
            <a:ext cx="4160520" cy="2825496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222436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E82713-2685-4CB9-BD26-DD329F3C67A6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5118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57926B3-CA5D-44FB-BC2D-6B05FBB97B04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1927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009212-C305-41EC-8687-C39B36C09AF0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2552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D886C8-FB0E-44DB-9413-26C9933623BA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8964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21792"/>
            <a:ext cx="10872216" cy="749808"/>
          </a:xfrm>
        </p:spPr>
        <p:txBody>
          <a:bodyPr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8A6864-E7E2-494F-A90A-ECC53613C6EC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7649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4ED686-7864-484B-8047-F06E855FD995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9810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B8F8C76-8E31-4D47-BC79-85F35E81929B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6983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640267-1344-46BE-B105-162E68855468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3451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483717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/>
          <a:lstStyle/>
          <a:p>
            <a:fld id="{1C45E567-307A-4358-87B7-AFD16C4C07D5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6010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/>
          <a:lstStyle/>
          <a:p>
            <a:fld id="{E016730A-3443-4D7F-BC47-3A3CDB3837FC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142" y="0"/>
            <a:ext cx="3939493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016678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7" y="0"/>
            <a:ext cx="396849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/>
          <a:lstStyle/>
          <a:p>
            <a:fld id="{D9193AC5-F257-4C01-8A7B-A4CD87F22F04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9260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/>
          <a:lstStyle/>
          <a:p>
            <a:fld id="{A64EBB10-E93E-4729-97C4-FAB8DF4548E2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44556" y="0"/>
            <a:ext cx="6224082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41004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/>
          <a:lstStyle/>
          <a:p>
            <a:fld id="{7040DD2C-7FC6-41A9-87A2-29E4EDD4A815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60263" y="0"/>
            <a:ext cx="6408375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574064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05656" y="722376"/>
            <a:ext cx="3417212" cy="544068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8E3A8ED-7C53-48B7-8E07-F767A8357B67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5860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-1"/>
            <a:ext cx="7397496" cy="68579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/>
          <a:lstStyle/>
          <a:p>
            <a:fld id="{81AC3B39-0D1D-4C0E-BE8E-C570B18D6B3B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4722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80F3AB-C899-4854-A4A4-B2E20F203358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819" y="0"/>
            <a:ext cx="7265819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322752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739749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2754B6-EAB4-945C-FC4E-F8F7D453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99CF6F-40DA-4FCF-FBCF-9907CB96FB7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8A1CA-3094-3344-5C05-30F5E18CD02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3099816"/>
            <a:ext cx="3401567" cy="30540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17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97312" y="6318504"/>
            <a:ext cx="1069847" cy="365760"/>
          </a:xfrm>
        </p:spPr>
        <p:txBody>
          <a:bodyPr/>
          <a:lstStyle/>
          <a:p>
            <a:fld id="{1095A040-388D-41D5-A09F-3EC1A1D097A8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68542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45910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591027"/>
            <a:ext cx="12198096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B542C-378A-4AAF-83EE-A3767FF83605}" type="datetime1">
              <a:rPr lang="en-US" smtClean="0"/>
              <a:t>2/24/2026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5734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370080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6C6F251-EB74-4ADA-AD63-D85EC3A9D616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3993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1801367"/>
            <a:ext cx="7015248" cy="448970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2735" y="1801367"/>
            <a:ext cx="3314425" cy="4489704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305F46D-792E-48B7-9047-8A1672515077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1362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4669536" cy="402456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B53D3FE-D727-4B50-874D-41D5E635B20A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9208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3645980" cy="40245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E942071-3A2D-4B86-82F9-428DB212BAF8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8199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93BC13-F3D8-0BDA-D1BF-7B8E455AC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362B5B-CACD-7203-74DE-7B0BBF7D69CE}"/>
              </a:ext>
            </a:extLst>
          </p:cNvPr>
          <p:cNvGrpSpPr/>
          <p:nvPr/>
        </p:nvGrpSpPr>
        <p:grpSpPr>
          <a:xfrm>
            <a:off x="-22276" y="-6922"/>
            <a:ext cx="12214276" cy="6869101"/>
            <a:chOff x="-22276" y="-6922"/>
            <a:chExt cx="12214276" cy="68691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6A753B-AD01-7A7A-4F2D-C75592EC67B9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E82525-BA9A-AA08-8DF0-B77178C6BC45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4B5202-8712-82B4-1B42-E7E4336E8698}"/>
                </a:ext>
              </a:extLst>
            </p:cNvPr>
            <p:cNvSpPr/>
            <p:nvPr/>
          </p:nvSpPr>
          <p:spPr>
            <a:xfrm flipH="1">
              <a:off x="-22276" y="-6922"/>
              <a:ext cx="3849318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5172D8-9117-7FB7-2347-567B5663C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928616"/>
            <a:ext cx="9912096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0352" y="978408"/>
            <a:ext cx="11137392" cy="41148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32224-E515-4E44-2832-0D5E94847C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1D16-7052-CB51-10DB-659F8F77B2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0D1012-6B36-4753-8153-E5F982239567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132CC-C4B7-E2AF-5520-00C69FF3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0289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718304"/>
            <a:ext cx="6281928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786384"/>
            <a:ext cx="11155680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2BBBB-FE25-456C-89E4-A0303F0273E5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2566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83480"/>
            <a:ext cx="6281928" cy="13533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82880"/>
            <a:ext cx="11247120" cy="49743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325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315EE4B-219D-4799-AB8D-57B100451C5D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4450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0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36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99AFF4-C109-45E7-87CB-3A41EC6C3342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1201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8784" y="6739061"/>
            <a:ext cx="12207240" cy="137160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6" y="0"/>
            <a:ext cx="137160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7680960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0AFEFF9-BDF1-4CFA-B535-0413D62BE29A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227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2357" y="6746828"/>
            <a:ext cx="12188952" cy="123363"/>
            <a:chOff x="-5025" y="6737718"/>
            <a:chExt cx="12207200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761A50-B070-4EAD-9EB9-92E4929324E7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698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920" y="5203004"/>
            <a:ext cx="9052560" cy="5577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795462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A1CBA35-F376-4C5F-B8C5-4C103617FD91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0531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93FB6C-5982-EAFA-94FA-F06EABA0E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8F732B-25DE-1819-DB0A-266B26703011}"/>
              </a:ext>
            </a:extLst>
          </p:cNvPr>
          <p:cNvGrpSpPr/>
          <p:nvPr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BBD41E-DAB9-A564-3A2B-295B7AE87C42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4A4391-9FDD-C033-0A4D-647A73420405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90101F-E74A-5C0F-8CC5-E0B5E3DC0E24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8E2756-2591-1046-1B67-C9DEEDDC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965960"/>
            <a:ext cx="8695944" cy="2331720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89D600-DCDC-4EC3-BDD3-052C2836DAF2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82363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3D49479-B594-DDBA-C16A-3A98635C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065CA7-C91C-8C4F-CD30-E6DB950A620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CDB482-1274-EA4E-11EA-FDB308F1540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AEF3D1-EB50-234E-F0C0-5C4E6FB69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1091" y="0"/>
            <a:ext cx="12188952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B35CE4F-16F9-575C-78CA-4F076F0C3D1F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D59711A-5559-82B6-B156-35D79618FF56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836" y="5192776"/>
            <a:ext cx="8494776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3532" y="1792224"/>
            <a:ext cx="8641080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600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ADB2DB3-0A08-4E5B-8BB6-A488CF1C042F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95954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133600"/>
            <a:ext cx="5166360" cy="41849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128115"/>
            <a:ext cx="5166360" cy="41903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A329DD1-6F17-4170-B2B1-1A76C32D62A1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95189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28111"/>
            <a:ext cx="5166360" cy="48463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28109"/>
            <a:ext cx="5166360" cy="4846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03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A7E6053-DA33-4DC9-86BB-0E52E5EB5B56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25352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CE4D-D83F-44D4-ACB0-A88A6B9DB4F7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359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F981-1EE1-49F5-B605-4EA23F0307AC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24510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93B-A447-4205-AC2D-AE2DEDAE4E3B}" type="datetime1">
              <a:rPr lang="en-US" smtClean="0"/>
              <a:t>2/24/2026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7482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3978" y="342016"/>
            <a:ext cx="6413182" cy="597648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9A354F-9C13-4261-9BA4-DD76051C2429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44485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A9CD26-23FE-488A-AF3B-5DDE99301C10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598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C67263D-2536-4E2E-A4D6-BA89E45F00B0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820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FD1C4689-B28D-4D3C-8B05-9ABB967E2A3E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114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  <p:sldLayoutId id="2147483822" r:id="rId18"/>
    <p:sldLayoutId id="2147483823" r:id="rId19"/>
    <p:sldLayoutId id="2147483824" r:id="rId20"/>
    <p:sldLayoutId id="2147483825" r:id="rId21"/>
    <p:sldLayoutId id="2147483826" r:id="rId22"/>
    <p:sldLayoutId id="2147483827" r:id="rId23"/>
    <p:sldLayoutId id="2147483828" r:id="rId24"/>
    <p:sldLayoutId id="2147483829" r:id="rId25"/>
    <p:sldLayoutId id="2147483830" r:id="rId26"/>
    <p:sldLayoutId id="2147483831" r:id="rId27"/>
    <p:sldLayoutId id="2147483832" r:id="rId28"/>
    <p:sldLayoutId id="2147483833" r:id="rId29"/>
    <p:sldLayoutId id="2147483834" r:id="rId30"/>
    <p:sldLayoutId id="2147483835" r:id="rId31"/>
    <p:sldLayoutId id="2147483836" r:id="rId32"/>
    <p:sldLayoutId id="2147483837" r:id="rId33"/>
    <p:sldLayoutId id="2147483838" r:id="rId34"/>
    <p:sldLayoutId id="2147483839" r:id="rId35"/>
    <p:sldLayoutId id="2147483840" r:id="rId36"/>
    <p:sldLayoutId id="2147483841" r:id="rId37"/>
    <p:sldLayoutId id="2147483842" r:id="rId38"/>
    <p:sldLayoutId id="2147483843" r:id="rId39"/>
    <p:sldLayoutId id="2147483844" r:id="rId40"/>
    <p:sldLayoutId id="2147483845" r:id="rId41"/>
    <p:sldLayoutId id="2147483846" r:id="rId42"/>
    <p:sldLayoutId id="2147483847" r:id="rId43"/>
    <p:sldLayoutId id="2147483848" r:id="rId44"/>
    <p:sldLayoutId id="2147483849" r:id="rId45"/>
    <p:sldLayoutId id="2147483850" r:id="rId46"/>
    <p:sldLayoutId id="2147483851" r:id="rId47"/>
    <p:sldLayoutId id="2147483852" r:id="rId48"/>
    <p:sldLayoutId id="2147483853" r:id="rId49"/>
    <p:sldLayoutId id="2147483854" r:id="rId50"/>
    <p:sldLayoutId id="2147483855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ystemdr.substack.com/p/in-memory-databases-when-and-why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ssms/install/install" TargetMode="External"/><Relationship Id="rId2" Type="http://schemas.openxmlformats.org/officeDocument/2006/relationships/hyperlink" Target="https://www.microsoft.com/en-us/sql-server/sql-server-downloads" TargetMode="External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12.png"/><Relationship Id="rId4" Type="http://schemas.openxmlformats.org/officeDocument/2006/relationships/hyperlink" Target="https://github.com/Microsoft/sql-server-samples/releases/tag/wide-world-importers-v1.0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9AA00-127F-33A9-EA7F-053C7A3BE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anchor="t">
            <a:normAutofit/>
          </a:bodyPr>
          <a:lstStyle/>
          <a:p>
            <a:r>
              <a:rPr lang="de-CH" dirty="0"/>
              <a:t>Memory </a:t>
            </a:r>
            <a:r>
              <a:rPr lang="de-CH" dirty="0" err="1"/>
              <a:t>Optimized</a:t>
            </a:r>
            <a:r>
              <a:rPr lang="de-CH" dirty="0"/>
              <a:t> </a:t>
            </a:r>
            <a:r>
              <a:rPr lang="de-CH" dirty="0" err="1"/>
              <a:t>Tables</a:t>
            </a:r>
            <a:r>
              <a:rPr lang="de-CH" dirty="0"/>
              <a:t> (</a:t>
            </a:r>
            <a:r>
              <a:rPr lang="de-CH" dirty="0" err="1"/>
              <a:t>MOT</a:t>
            </a:r>
            <a:r>
              <a:rPr lang="de-CH" dirty="0"/>
              <a:t>) in Microsoft SQL</a:t>
            </a:r>
            <a:endParaRPr lang="en-C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34D9AB-112F-50A4-C317-3709D9E0F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anchor="ctr">
            <a:normAutofit/>
          </a:bodyPr>
          <a:lstStyle/>
          <a:p>
            <a:r>
              <a:rPr lang="de-CH" dirty="0"/>
              <a:t>25/02/2026</a:t>
            </a:r>
          </a:p>
          <a:p>
            <a:endParaRPr lang="en-CH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2D44951E-C99D-7082-016F-D3A1030E44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34656" y="0"/>
            <a:ext cx="4654296" cy="6858000"/>
          </a:xfrm>
        </p:spPr>
        <p:txBody>
          <a:bodyPr/>
          <a:lstStyle/>
          <a:p>
            <a:endParaRPr lang="en-C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EB62A9-81C6-FE83-3C50-C6CDF08F3820}"/>
              </a:ext>
            </a:extLst>
          </p:cNvPr>
          <p:cNvSpPr txBox="1"/>
          <p:nvPr/>
        </p:nvSpPr>
        <p:spPr>
          <a:xfrm>
            <a:off x="529389" y="6458552"/>
            <a:ext cx="61961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200" dirty="0"/>
              <a:t>https://github.com/vjaeggi/MemoryOptimizedTables_SQL</a:t>
            </a:r>
          </a:p>
        </p:txBody>
      </p:sp>
    </p:spTree>
    <p:extLst>
      <p:ext uri="{BB962C8B-B14F-4D97-AF65-F5344CB8AC3E}">
        <p14:creationId xmlns:p14="http://schemas.microsoft.com/office/powerpoint/2010/main" val="3904395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3DF1A-EFA6-76D2-968F-BFD871C7D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</p:spPr>
        <p:txBody>
          <a:bodyPr anchor="ctr">
            <a:normAutofit/>
          </a:bodyPr>
          <a:lstStyle/>
          <a:p>
            <a:r>
              <a:rPr lang="de-CH" dirty="0"/>
              <a:t>Aufgabe</a:t>
            </a:r>
            <a:endParaRPr lang="en-CH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58EA86D-5FBC-2C82-D46B-C26A54C026C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452986559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6057702" y="1174385"/>
          <a:ext cx="5509458" cy="3607384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938074">
                  <a:extLst>
                    <a:ext uri="{9D8B030D-6E8A-4147-A177-3AD203B41FA5}">
                      <a16:colId xmlns:a16="http://schemas.microsoft.com/office/drawing/2014/main" val="2308814322"/>
                    </a:ext>
                  </a:extLst>
                </a:gridCol>
                <a:gridCol w="3571384">
                  <a:extLst>
                    <a:ext uri="{9D8B030D-6E8A-4147-A177-3AD203B41FA5}">
                      <a16:colId xmlns:a16="http://schemas.microsoft.com/office/drawing/2014/main" val="3832903153"/>
                    </a:ext>
                  </a:extLst>
                </a:gridCol>
              </a:tblGrid>
              <a:tr h="901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H" sz="3100" b="1" cap="none" spc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 dirty="0">
                          <a:solidFill>
                            <a:schemeClr val="tx1"/>
                          </a:solidFill>
                        </a:rPr>
                        <a:t>Disk vs in Memory Table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9286"/>
                  </a:ext>
                </a:extLst>
              </a:tr>
              <a:tr h="901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H" sz="3100" b="1" cap="none" spc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 dirty="0" err="1">
                          <a:solidFill>
                            <a:schemeClr val="tx1"/>
                          </a:solidFill>
                        </a:rPr>
                        <a:t>Kurzdemo</a:t>
                      </a:r>
                      <a:r>
                        <a:rPr lang="en-US" sz="2000" b="0" cap="none" spc="0" dirty="0">
                          <a:solidFill>
                            <a:schemeClr val="tx1"/>
                          </a:solidFill>
                        </a:rPr>
                        <a:t> Performance in SSMS 2022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217168"/>
                  </a:ext>
                </a:extLst>
              </a:tr>
              <a:tr h="901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H" sz="3100" b="1" cap="none" spc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 dirty="0">
                          <a:solidFill>
                            <a:schemeClr val="tx1"/>
                          </a:solidFill>
                        </a:rPr>
                        <a:t>Vor – und </a:t>
                      </a:r>
                      <a:r>
                        <a:rPr lang="en-US" sz="2000" b="0" cap="none" spc="0" dirty="0" err="1">
                          <a:solidFill>
                            <a:schemeClr val="tx1"/>
                          </a:solidFill>
                        </a:rPr>
                        <a:t>Nachteile</a:t>
                      </a:r>
                      <a:r>
                        <a:rPr lang="en-US" sz="2000" b="0" cap="none" spc="0" dirty="0">
                          <a:solidFill>
                            <a:schemeClr val="tx1"/>
                          </a:solidFill>
                        </a:rPr>
                        <a:t> in Memory Table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6808265"/>
                  </a:ext>
                </a:extLst>
              </a:tr>
              <a:tr h="901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3100" b="1" cap="none" spc="0" dirty="0">
                          <a:solidFill>
                            <a:schemeClr val="accent1"/>
                          </a:solidFill>
                        </a:rPr>
                        <a:t>04</a:t>
                      </a:r>
                      <a:endParaRPr lang="en-CH" sz="3100" b="1" cap="none" spc="0" dirty="0">
                        <a:solidFill>
                          <a:schemeClr val="accent1"/>
                        </a:solidFill>
                      </a:endParaRP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 dirty="0" err="1">
                          <a:solidFill>
                            <a:schemeClr val="tx1"/>
                          </a:solidFill>
                        </a:rPr>
                        <a:t>Beispiel</a:t>
                      </a:r>
                      <a:r>
                        <a:rPr lang="en-US" sz="2000" b="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0" cap="none" spc="0" dirty="0" err="1">
                          <a:solidFill>
                            <a:schemeClr val="tx1"/>
                          </a:solidFill>
                        </a:rPr>
                        <a:t>Nachteil</a:t>
                      </a:r>
                      <a:r>
                        <a:rPr lang="en-US" sz="2000" b="0" cap="none" spc="0" dirty="0">
                          <a:solidFill>
                            <a:schemeClr val="tx1"/>
                          </a:solidFill>
                        </a:rPr>
                        <a:t> in Memory Table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842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2536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44A5C-24CA-63A6-9B49-75F430C32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Unterschied «</a:t>
            </a:r>
            <a:r>
              <a:rPr lang="de-CH" dirty="0" err="1"/>
              <a:t>disk</a:t>
            </a:r>
            <a:r>
              <a:rPr lang="de-CH" dirty="0"/>
              <a:t> </a:t>
            </a:r>
            <a:r>
              <a:rPr lang="de-CH" dirty="0" err="1"/>
              <a:t>tables</a:t>
            </a:r>
            <a:r>
              <a:rPr lang="de-CH" dirty="0"/>
              <a:t>» </a:t>
            </a:r>
            <a:r>
              <a:rPr lang="de-CH" dirty="0" err="1"/>
              <a:t>vs</a:t>
            </a:r>
            <a:r>
              <a:rPr lang="de-CH" dirty="0"/>
              <a:t> «</a:t>
            </a:r>
            <a:r>
              <a:rPr lang="de-CH" dirty="0" err="1"/>
              <a:t>memory</a:t>
            </a:r>
            <a:r>
              <a:rPr lang="de-CH" dirty="0"/>
              <a:t> </a:t>
            </a:r>
            <a:r>
              <a:rPr lang="de-CH" dirty="0" err="1"/>
              <a:t>optimized</a:t>
            </a:r>
            <a:r>
              <a:rPr lang="de-CH" dirty="0"/>
              <a:t> </a:t>
            </a:r>
            <a:r>
              <a:rPr lang="de-CH" dirty="0" err="1"/>
              <a:t>tables</a:t>
            </a:r>
            <a:r>
              <a:rPr lang="de-CH" dirty="0"/>
              <a:t>»</a:t>
            </a:r>
            <a:endParaRPr lang="en-CH" dirty="0"/>
          </a:p>
        </p:txBody>
      </p:sp>
      <p:pic>
        <p:nvPicPr>
          <p:cNvPr id="1026" name="Picture 2" descr="In-Memory Databases: When and Why to Use Them">
            <a:extLst>
              <a:ext uri="{FF2B5EF4-FFF2-40B4-BE49-F238E27FC236}">
                <a16:creationId xmlns:a16="http://schemas.microsoft.com/office/drawing/2014/main" id="{495C247A-E3B9-55A1-235F-C2866DD9E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633" y="2126783"/>
            <a:ext cx="6984733" cy="4365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32D2DB-6F73-9900-7CAE-C07CB8C91C49}"/>
              </a:ext>
            </a:extLst>
          </p:cNvPr>
          <p:cNvSpPr txBox="1"/>
          <p:nvPr/>
        </p:nvSpPr>
        <p:spPr>
          <a:xfrm>
            <a:off x="2745088" y="6456575"/>
            <a:ext cx="77406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00" dirty="0"/>
              <a:t>Quelle: </a:t>
            </a:r>
            <a:r>
              <a:rPr lang="de-CH" sz="1000" dirty="0">
                <a:hlinkClick r:id="rId3"/>
              </a:rPr>
              <a:t>https://systemdr.substack.com/p/in-memory-databases-when-and-why</a:t>
            </a:r>
            <a:r>
              <a:rPr lang="de-CH" sz="1000" dirty="0"/>
              <a:t>, letzter Zugriff: 24/02/2026</a:t>
            </a:r>
            <a:endParaRPr lang="en-CH" sz="1000" dirty="0"/>
          </a:p>
        </p:txBody>
      </p:sp>
    </p:spTree>
    <p:extLst>
      <p:ext uri="{BB962C8B-B14F-4D97-AF65-F5344CB8AC3E}">
        <p14:creationId xmlns:p14="http://schemas.microsoft.com/office/powerpoint/2010/main" val="2374155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0AD75-039D-AE66-1CC5-BED503DEB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33948-C206-F3B9-26AF-17FFFC03A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Unterschied «</a:t>
            </a:r>
            <a:r>
              <a:rPr lang="de-CH" dirty="0" err="1"/>
              <a:t>disk</a:t>
            </a:r>
            <a:r>
              <a:rPr lang="de-CH" dirty="0"/>
              <a:t> </a:t>
            </a:r>
            <a:r>
              <a:rPr lang="de-CH" dirty="0" err="1"/>
              <a:t>tables</a:t>
            </a:r>
            <a:r>
              <a:rPr lang="de-CH" dirty="0"/>
              <a:t>» </a:t>
            </a:r>
            <a:r>
              <a:rPr lang="de-CH" dirty="0" err="1"/>
              <a:t>vs</a:t>
            </a:r>
            <a:r>
              <a:rPr lang="de-CH" dirty="0"/>
              <a:t> «</a:t>
            </a:r>
            <a:r>
              <a:rPr lang="de-CH" dirty="0" err="1"/>
              <a:t>memory</a:t>
            </a:r>
            <a:r>
              <a:rPr lang="de-CH" dirty="0"/>
              <a:t> </a:t>
            </a:r>
            <a:r>
              <a:rPr lang="de-CH" dirty="0" err="1"/>
              <a:t>optimized</a:t>
            </a:r>
            <a:r>
              <a:rPr lang="de-CH" dirty="0"/>
              <a:t> </a:t>
            </a:r>
            <a:r>
              <a:rPr lang="de-CH" dirty="0" err="1"/>
              <a:t>tables</a:t>
            </a:r>
            <a:r>
              <a:rPr lang="de-CH" dirty="0"/>
              <a:t>»</a:t>
            </a:r>
            <a:endParaRPr lang="en-CH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D947D-13B8-E528-66D2-E83F52B32A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Disk-basierte </a:t>
            </a:r>
            <a:r>
              <a:rPr lang="de-DE" b="1" dirty="0" err="1"/>
              <a:t>Tables</a:t>
            </a:r>
            <a:endParaRPr lang="de-DE" dirty="0"/>
          </a:p>
          <a:p>
            <a:r>
              <a:rPr lang="de-DE" dirty="0"/>
              <a:t>Datenseiten liegen auf Disk, werden in Buffer Cache geladen</a:t>
            </a:r>
          </a:p>
          <a:p>
            <a:r>
              <a:rPr lang="de-DE" dirty="0" err="1"/>
              <a:t>Locking</a:t>
            </a:r>
            <a:r>
              <a:rPr lang="de-DE" dirty="0"/>
              <a:t>/</a:t>
            </a:r>
            <a:r>
              <a:rPr lang="de-DE" dirty="0" err="1"/>
              <a:t>Latching</a:t>
            </a:r>
            <a:r>
              <a:rPr lang="de-DE" dirty="0"/>
              <a:t>, klassische B-</a:t>
            </a:r>
            <a:r>
              <a:rPr lang="de-DE" dirty="0" err="1"/>
              <a:t>Tree</a:t>
            </a:r>
            <a:r>
              <a:rPr lang="de-DE" dirty="0"/>
              <a:t>-Indizes</a:t>
            </a:r>
          </a:p>
          <a:p>
            <a:endParaRPr lang="en-CH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012701-2DCD-1B3C-67B8-A27351E384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Memory-Optimized Tables</a:t>
            </a:r>
            <a:endParaRPr lang="en-GB" dirty="0"/>
          </a:p>
          <a:p>
            <a:r>
              <a:rPr lang="en-GB" dirty="0" err="1"/>
              <a:t>Daten</a:t>
            </a:r>
            <a:r>
              <a:rPr lang="en-GB" dirty="0"/>
              <a:t> </a:t>
            </a:r>
            <a:r>
              <a:rPr lang="en-GB" dirty="0" err="1"/>
              <a:t>dauerhaft</a:t>
            </a:r>
            <a:r>
              <a:rPr lang="en-GB" dirty="0"/>
              <a:t> </a:t>
            </a:r>
            <a:r>
              <a:rPr lang="en-GB" dirty="0" err="1"/>
              <a:t>im</a:t>
            </a:r>
            <a:r>
              <a:rPr lang="en-GB" dirty="0"/>
              <a:t> </a:t>
            </a:r>
            <a:r>
              <a:rPr lang="en-GB" b="1" dirty="0"/>
              <a:t>Memory-Optimized Filegroup</a:t>
            </a:r>
            <a:r>
              <a:rPr lang="en-GB" dirty="0"/>
              <a:t> </a:t>
            </a:r>
            <a:r>
              <a:rPr lang="en-GB" dirty="0" err="1"/>
              <a:t>im</a:t>
            </a:r>
            <a:r>
              <a:rPr lang="en-GB" dirty="0"/>
              <a:t> RAM</a:t>
            </a:r>
          </a:p>
          <a:p>
            <a:r>
              <a:rPr lang="en-GB" dirty="0"/>
              <a:t>Lock-</a:t>
            </a:r>
            <a:r>
              <a:rPr lang="en-GB" dirty="0" err="1"/>
              <a:t>freie</a:t>
            </a:r>
            <a:r>
              <a:rPr lang="en-GB" dirty="0"/>
              <a:t>, </a:t>
            </a:r>
            <a:r>
              <a:rPr lang="en-GB" dirty="0" err="1"/>
              <a:t>optimistische</a:t>
            </a:r>
            <a:r>
              <a:rPr lang="en-GB" dirty="0"/>
              <a:t> MVCC-</a:t>
            </a:r>
            <a:r>
              <a:rPr lang="en-GB" dirty="0" err="1"/>
              <a:t>Struktur</a:t>
            </a:r>
            <a:r>
              <a:rPr lang="en-GB" dirty="0"/>
              <a:t>, Hash-/Range-</a:t>
            </a:r>
            <a:r>
              <a:rPr lang="en-GB" dirty="0" err="1"/>
              <a:t>Indizes</a:t>
            </a:r>
            <a:endParaRPr lang="en-GB" dirty="0"/>
          </a:p>
          <a:p>
            <a:r>
              <a:rPr lang="en-GB" dirty="0" err="1"/>
              <a:t>Spezielle</a:t>
            </a:r>
            <a:r>
              <a:rPr lang="en-GB" dirty="0"/>
              <a:t> Filegroup </a:t>
            </a:r>
            <a:r>
              <a:rPr lang="en-GB" dirty="0" err="1"/>
              <a:t>MEMORY_OPTIMIZED_DATA</a:t>
            </a:r>
            <a:r>
              <a:rPr lang="en-GB" dirty="0"/>
              <a:t>, Durability-</a:t>
            </a:r>
            <a:r>
              <a:rPr lang="en-GB" dirty="0" err="1"/>
              <a:t>Optionen</a:t>
            </a:r>
            <a:endParaRPr lang="en-GB" dirty="0"/>
          </a:p>
          <a:p>
            <a:endParaRPr lang="en-C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9E5C55-55EE-1140-50F3-A1EF57CAF644}"/>
              </a:ext>
            </a:extLst>
          </p:cNvPr>
          <p:cNvSpPr txBox="1"/>
          <p:nvPr/>
        </p:nvSpPr>
        <p:spPr>
          <a:xfrm>
            <a:off x="3478138" y="5563312"/>
            <a:ext cx="48283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Technisch ist es eine andere Storage Engine mit eigener Dateistruktur und eigenen Einschränkungen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158852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3E433-A8DF-825B-9DB9-C664B8AA6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BFFC2-A881-D7FD-A72F-A2BEFA44C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Kurzdemo</a:t>
            </a:r>
            <a:r>
              <a:rPr lang="de-CH" dirty="0"/>
              <a:t> Performance Vergleich </a:t>
            </a:r>
            <a:r>
              <a:rPr lang="de-CH" dirty="0" err="1"/>
              <a:t>SSMS</a:t>
            </a:r>
            <a:r>
              <a:rPr lang="de-CH" dirty="0"/>
              <a:t> 2022 </a:t>
            </a:r>
            <a:br>
              <a:rPr lang="en-US" dirty="0">
                <a:solidFill>
                  <a:schemeClr val="tx1"/>
                </a:solidFill>
              </a:rPr>
            </a:br>
            <a:endParaRPr lang="en-CH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EE5AC-CE26-E9B8-3647-F8A110D8DF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dirty="0"/>
              <a:t>Set </a:t>
            </a:r>
            <a:r>
              <a:rPr lang="de-CH" dirty="0" err="1"/>
              <a:t>up</a:t>
            </a:r>
            <a:r>
              <a:rPr lang="de-CH" dirty="0"/>
              <a:t>:</a:t>
            </a:r>
          </a:p>
          <a:p>
            <a:pPr>
              <a:buFontTx/>
              <a:buChar char="-"/>
            </a:pPr>
            <a:r>
              <a:rPr lang="de-CH" dirty="0"/>
              <a:t>Windows SQL Server 2025 </a:t>
            </a:r>
            <a:r>
              <a:rPr lang="de-CH" dirty="0">
                <a:hlinkClick r:id="rId2"/>
              </a:rPr>
              <a:t>Developer</a:t>
            </a:r>
            <a:endParaRPr lang="de-CH" dirty="0"/>
          </a:p>
          <a:p>
            <a:pPr>
              <a:buFontTx/>
              <a:buChar char="-"/>
            </a:pPr>
            <a:r>
              <a:rPr lang="de-CH" dirty="0" err="1"/>
              <a:t>SSMS</a:t>
            </a:r>
            <a:r>
              <a:rPr lang="de-CH" dirty="0"/>
              <a:t> 2022: </a:t>
            </a:r>
            <a:r>
              <a:rPr lang="de-CH" dirty="0">
                <a:hlinkClick r:id="rId3"/>
              </a:rPr>
              <a:t>Download</a:t>
            </a:r>
            <a:endParaRPr lang="de-CH" dirty="0"/>
          </a:p>
          <a:p>
            <a:pPr>
              <a:buFontTx/>
              <a:buChar char="-"/>
            </a:pPr>
            <a:r>
              <a:rPr lang="de-CH" dirty="0"/>
              <a:t>Datenset: </a:t>
            </a:r>
            <a:r>
              <a:rPr lang="de-CH" dirty="0">
                <a:hlinkClick r:id="rId4"/>
              </a:rPr>
              <a:t>Wide World </a:t>
            </a:r>
            <a:r>
              <a:rPr lang="de-CH" dirty="0" err="1">
                <a:hlinkClick r:id="rId4"/>
              </a:rPr>
              <a:t>Importers</a:t>
            </a:r>
            <a:endParaRPr lang="en-C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8E56D0-45AD-947F-1350-177E4D9211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948" y="1978913"/>
            <a:ext cx="5351212" cy="42149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E6AE895-3373-E405-3901-951DE9F3D2A3}"/>
              </a:ext>
            </a:extLst>
          </p:cNvPr>
          <p:cNvSpPr txBox="1"/>
          <p:nvPr/>
        </p:nvSpPr>
        <p:spPr>
          <a:xfrm>
            <a:off x="529389" y="6458552"/>
            <a:ext cx="61961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200" dirty="0"/>
              <a:t>https://github.com/vjaeggi/MemoryOptimizedTables_SQL</a:t>
            </a:r>
          </a:p>
        </p:txBody>
      </p:sp>
    </p:spTree>
    <p:extLst>
      <p:ext uri="{BB962C8B-B14F-4D97-AF65-F5344CB8AC3E}">
        <p14:creationId xmlns:p14="http://schemas.microsoft.com/office/powerpoint/2010/main" val="3981012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AB87D-042C-9599-0E1E-901F1CB92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F3BE6-32B3-569B-9511-F95682EEE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Fazit Performance Vergleich (Laufzeiten)</a:t>
            </a:r>
            <a:br>
              <a:rPr lang="en-US" dirty="0">
                <a:solidFill>
                  <a:schemeClr val="tx1"/>
                </a:solidFill>
              </a:rPr>
            </a:br>
            <a:endParaRPr lang="en-CH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E6187-F2C6-1DE1-025F-A948A7E746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C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D31613-891E-B444-41DB-99A550AFC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948" y="1978913"/>
            <a:ext cx="5351212" cy="42149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886748E-2E7F-DD4F-824A-BD1658CD26EF}"/>
              </a:ext>
            </a:extLst>
          </p:cNvPr>
          <p:cNvSpPr txBox="1"/>
          <p:nvPr/>
        </p:nvSpPr>
        <p:spPr>
          <a:xfrm>
            <a:off x="529389" y="6458552"/>
            <a:ext cx="61961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200" dirty="0"/>
              <a:t>https://github.com/vjaeggi/MemoryOptimizedTables_SQL</a:t>
            </a:r>
          </a:p>
        </p:txBody>
      </p:sp>
    </p:spTree>
    <p:extLst>
      <p:ext uri="{BB962C8B-B14F-4D97-AF65-F5344CB8AC3E}">
        <p14:creationId xmlns:p14="http://schemas.microsoft.com/office/powerpoint/2010/main" val="999890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C703F-356B-6790-BD49-86B5C9625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3EDAB0-92BA-B0E8-8E92-256C22AAF7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e-CH" dirty="0"/>
              <a:t>Vorteile «in Memory» Table</a:t>
            </a:r>
          </a:p>
          <a:p>
            <a:pPr marL="0" indent="0">
              <a:buNone/>
            </a:pPr>
            <a:r>
              <a:rPr lang="de-CH" dirty="0" err="1"/>
              <a:t>Optimization</a:t>
            </a:r>
            <a:r>
              <a:rPr lang="de-CH" dirty="0"/>
              <a:t> </a:t>
            </a:r>
            <a:r>
              <a:rPr lang="de-CH" dirty="0" err="1"/>
              <a:t>for</a:t>
            </a:r>
            <a:r>
              <a:rPr lang="de-CH" dirty="0"/>
              <a:t> CPU Cache Efficiency</a:t>
            </a:r>
          </a:p>
          <a:p>
            <a:pPr marL="0" indent="0">
              <a:buNone/>
            </a:pPr>
            <a:r>
              <a:rPr lang="de-CH" dirty="0"/>
              <a:t>Lock Free </a:t>
            </a:r>
            <a:r>
              <a:rPr lang="de-CH" dirty="0" err="1"/>
              <a:t>Algorithms</a:t>
            </a:r>
            <a:r>
              <a:rPr lang="de-CH" dirty="0"/>
              <a:t> (possible </a:t>
            </a:r>
            <a:r>
              <a:rPr lang="de-CH" dirty="0" err="1"/>
              <a:t>true</a:t>
            </a:r>
            <a:r>
              <a:rPr lang="de-CH" dirty="0"/>
              <a:t> </a:t>
            </a:r>
            <a:r>
              <a:rPr lang="de-CH" dirty="0" err="1"/>
              <a:t>parallelism</a:t>
            </a:r>
            <a:r>
              <a:rPr lang="de-CH" dirty="0"/>
              <a:t>)</a:t>
            </a:r>
          </a:p>
          <a:p>
            <a:pPr marL="0" indent="0">
              <a:buNone/>
            </a:pPr>
            <a:r>
              <a:rPr lang="de-CH" dirty="0" err="1"/>
              <a:t>Reduced</a:t>
            </a:r>
            <a:r>
              <a:rPr lang="de-CH" dirty="0"/>
              <a:t> </a:t>
            </a:r>
            <a:r>
              <a:rPr lang="de-CH" dirty="0" err="1"/>
              <a:t>serialization</a:t>
            </a:r>
            <a:r>
              <a:rPr lang="de-CH" dirty="0"/>
              <a:t> </a:t>
            </a:r>
            <a:r>
              <a:rPr lang="de-CH" dirty="0" err="1"/>
              <a:t>overhead</a:t>
            </a:r>
            <a:r>
              <a:rPr lang="de-CH" dirty="0"/>
              <a:t> (</a:t>
            </a:r>
            <a:r>
              <a:rPr lang="de-CH" dirty="0" err="1"/>
              <a:t>no</a:t>
            </a:r>
            <a:r>
              <a:rPr lang="de-CH" dirty="0"/>
              <a:t> </a:t>
            </a:r>
            <a:r>
              <a:rPr lang="de-CH" dirty="0" err="1"/>
              <a:t>need</a:t>
            </a:r>
            <a:r>
              <a:rPr lang="de-CH" dirty="0"/>
              <a:t>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serialize</a:t>
            </a:r>
            <a:r>
              <a:rPr lang="de-CH" dirty="0"/>
              <a:t> </a:t>
            </a:r>
            <a:r>
              <a:rPr lang="de-CH" dirty="0" err="1"/>
              <a:t>between</a:t>
            </a:r>
            <a:r>
              <a:rPr lang="de-CH" dirty="0"/>
              <a:t> </a:t>
            </a:r>
            <a:r>
              <a:rPr lang="de-CH" dirty="0" err="1"/>
              <a:t>disk</a:t>
            </a:r>
            <a:r>
              <a:rPr lang="de-CH" dirty="0"/>
              <a:t> and </a:t>
            </a:r>
            <a:r>
              <a:rPr lang="de-CH" dirty="0" err="1"/>
              <a:t>memory</a:t>
            </a:r>
            <a:r>
              <a:rPr lang="de-CH" dirty="0"/>
              <a:t> </a:t>
            </a:r>
            <a:r>
              <a:rPr lang="de-CH" dirty="0" err="1"/>
              <a:t>saving</a:t>
            </a:r>
            <a:r>
              <a:rPr lang="de-CH" dirty="0"/>
              <a:t> </a:t>
            </a:r>
            <a:r>
              <a:rPr lang="de-CH" dirty="0" err="1"/>
              <a:t>cpu</a:t>
            </a:r>
            <a:r>
              <a:rPr lang="de-CH" dirty="0"/>
              <a:t> </a:t>
            </a:r>
            <a:r>
              <a:rPr lang="de-CH" dirty="0" err="1"/>
              <a:t>cycles</a:t>
            </a:r>
            <a:r>
              <a:rPr lang="de-CH" dirty="0"/>
              <a:t>)</a:t>
            </a:r>
          </a:p>
          <a:p>
            <a:pPr marL="0" indent="0">
              <a:buNone/>
            </a:pPr>
            <a:r>
              <a:rPr lang="de-CH" dirty="0" err="1"/>
              <a:t>Predicateble</a:t>
            </a:r>
            <a:r>
              <a:rPr lang="de-CH" dirty="0"/>
              <a:t> </a:t>
            </a:r>
            <a:r>
              <a:rPr lang="de-CH" dirty="0" err="1"/>
              <a:t>performance</a:t>
            </a:r>
            <a:r>
              <a:rPr lang="de-CH" dirty="0"/>
              <a:t> (</a:t>
            </a:r>
            <a:r>
              <a:rPr lang="de-CH" dirty="0" err="1"/>
              <a:t>No</a:t>
            </a:r>
            <a:r>
              <a:rPr lang="de-CH" dirty="0"/>
              <a:t> I/O </a:t>
            </a:r>
            <a:r>
              <a:rPr lang="de-CH" dirty="0" err="1"/>
              <a:t>variance</a:t>
            </a:r>
            <a:r>
              <a:rPr lang="de-CH" dirty="0"/>
              <a:t>) essential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systems</a:t>
            </a:r>
            <a:r>
              <a:rPr lang="de-CH" dirty="0"/>
              <a:t> </a:t>
            </a:r>
            <a:r>
              <a:rPr lang="de-CH" dirty="0" err="1"/>
              <a:t>with</a:t>
            </a:r>
            <a:r>
              <a:rPr lang="de-CH" dirty="0"/>
              <a:t> </a:t>
            </a:r>
            <a:r>
              <a:rPr lang="de-CH" dirty="0" err="1"/>
              <a:t>strict</a:t>
            </a:r>
            <a:r>
              <a:rPr lang="de-CH" dirty="0"/>
              <a:t> SLA (Service Level Agreements)</a:t>
            </a:r>
          </a:p>
          <a:p>
            <a:pPr marL="0" indent="0">
              <a:buNone/>
            </a:pPr>
            <a:endParaRPr lang="de-CH" dirty="0"/>
          </a:p>
          <a:p>
            <a:pPr>
              <a:buFontTx/>
              <a:buChar char="-"/>
            </a:pPr>
            <a:r>
              <a:rPr lang="de-CH" dirty="0"/>
              <a:t>Fast </a:t>
            </a:r>
            <a:r>
              <a:rPr lang="de-CH" dirty="0" err="1"/>
              <a:t>response</a:t>
            </a:r>
            <a:r>
              <a:rPr lang="de-CH" dirty="0"/>
              <a:t> (</a:t>
            </a:r>
            <a:r>
              <a:rPr lang="de-CH" dirty="0" err="1"/>
              <a:t>ms</a:t>
            </a:r>
            <a:r>
              <a:rPr lang="de-CH" dirty="0"/>
              <a:t>)</a:t>
            </a:r>
          </a:p>
          <a:p>
            <a:pPr lvl="1">
              <a:buFontTx/>
              <a:buChar char="-"/>
            </a:pPr>
            <a:r>
              <a:rPr lang="de-CH" dirty="0"/>
              <a:t>High </a:t>
            </a:r>
            <a:r>
              <a:rPr lang="de-CH" dirty="0" err="1"/>
              <a:t>frequency</a:t>
            </a:r>
            <a:r>
              <a:rPr lang="de-CH" dirty="0"/>
              <a:t> </a:t>
            </a:r>
            <a:r>
              <a:rPr lang="de-CH" dirty="0" err="1"/>
              <a:t>trading</a:t>
            </a:r>
            <a:endParaRPr lang="de-CH" dirty="0"/>
          </a:p>
          <a:p>
            <a:pPr lvl="1">
              <a:buFontTx/>
              <a:buChar char="-"/>
            </a:pPr>
            <a:r>
              <a:rPr lang="de-CH" dirty="0" err="1"/>
              <a:t>Bidding</a:t>
            </a:r>
            <a:r>
              <a:rPr lang="de-CH" dirty="0"/>
              <a:t> </a:t>
            </a:r>
            <a:r>
              <a:rPr lang="de-CH" dirty="0" err="1"/>
              <a:t>platforms</a:t>
            </a:r>
            <a:endParaRPr lang="de-CH" dirty="0"/>
          </a:p>
          <a:p>
            <a:pPr lvl="1">
              <a:buFontTx/>
              <a:buChar char="-"/>
            </a:pPr>
            <a:r>
              <a:rPr lang="de-CH" dirty="0" err="1"/>
              <a:t>Reduce</a:t>
            </a:r>
            <a:r>
              <a:rPr lang="de-CH" dirty="0"/>
              <a:t> </a:t>
            </a:r>
            <a:r>
              <a:rPr lang="de-CH" dirty="0" err="1"/>
              <a:t>payent</a:t>
            </a:r>
            <a:r>
              <a:rPr lang="de-CH" dirty="0"/>
              <a:t> </a:t>
            </a:r>
            <a:r>
              <a:rPr lang="de-CH" dirty="0" err="1"/>
              <a:t>processing</a:t>
            </a:r>
            <a:r>
              <a:rPr lang="de-CH" dirty="0"/>
              <a:t> </a:t>
            </a:r>
            <a:r>
              <a:rPr lang="de-CH" dirty="0" err="1"/>
              <a:t>latency</a:t>
            </a:r>
            <a:r>
              <a:rPr lang="de-CH" dirty="0"/>
              <a:t> </a:t>
            </a:r>
            <a:r>
              <a:rPr lang="de-CH" dirty="0" err="1"/>
              <a:t>by</a:t>
            </a:r>
            <a:r>
              <a:rPr lang="de-CH" dirty="0"/>
              <a:t> </a:t>
            </a:r>
            <a:r>
              <a:rPr lang="de-CH" dirty="0" err="1"/>
              <a:t>moving</a:t>
            </a:r>
            <a:r>
              <a:rPr lang="de-CH" dirty="0"/>
              <a:t> </a:t>
            </a:r>
            <a:r>
              <a:rPr lang="de-CH" dirty="0" err="1"/>
              <a:t>authentication</a:t>
            </a:r>
            <a:r>
              <a:rPr lang="de-CH" dirty="0"/>
              <a:t> </a:t>
            </a:r>
            <a:r>
              <a:rPr lang="de-CH" dirty="0" err="1"/>
              <a:t>tokens</a:t>
            </a:r>
            <a:endParaRPr lang="de-CH" dirty="0"/>
          </a:p>
          <a:p>
            <a:pPr marL="228600" lvl="1" indent="0">
              <a:buNone/>
            </a:pPr>
            <a:r>
              <a:rPr lang="de-CH" dirty="0"/>
              <a:t>Traffic </a:t>
            </a:r>
            <a:r>
              <a:rPr lang="de-CH" dirty="0" err="1"/>
              <a:t>spikes</a:t>
            </a:r>
            <a:r>
              <a:rPr lang="de-CH" dirty="0"/>
              <a:t> (Netflix (</a:t>
            </a:r>
            <a:r>
              <a:rPr lang="de-CH" dirty="0" err="1"/>
              <a:t>EvCache</a:t>
            </a:r>
            <a:r>
              <a:rPr lang="de-CH" dirty="0"/>
              <a:t>) </a:t>
            </a:r>
          </a:p>
          <a:p>
            <a:pPr marL="228600" lvl="1" indent="0">
              <a:buNone/>
            </a:pPr>
            <a:r>
              <a:rPr lang="de-CH" dirty="0" err="1"/>
              <a:t>Complex</a:t>
            </a:r>
            <a:r>
              <a:rPr lang="de-CH" dirty="0"/>
              <a:t> </a:t>
            </a:r>
            <a:r>
              <a:rPr lang="de-CH" dirty="0" err="1"/>
              <a:t>data</a:t>
            </a:r>
            <a:r>
              <a:rPr lang="de-CH" dirty="0"/>
              <a:t> </a:t>
            </a:r>
            <a:r>
              <a:rPr lang="de-CH" dirty="0" err="1"/>
              <a:t>operations</a:t>
            </a:r>
            <a:endParaRPr lang="en-CH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B7F73D-6562-3767-79B6-BB7AD2175159}"/>
              </a:ext>
            </a:extLst>
          </p:cNvPr>
          <p:cNvSpPr txBox="1"/>
          <p:nvPr/>
        </p:nvSpPr>
        <p:spPr>
          <a:xfrm>
            <a:off x="529389" y="6458552"/>
            <a:ext cx="61961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200" dirty="0"/>
              <a:t>https://github.com/vjaeggi/MemoryOptimizedTables_SQL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9F9AE33-FF9F-F082-6024-01F13B772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Vor- und Nachteile «in Memory» Table</a:t>
            </a:r>
            <a:endParaRPr lang="en-CH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95D688A-C6E7-DE12-6A34-6AD9356B2CC8}"/>
              </a:ext>
            </a:extLst>
          </p:cNvPr>
          <p:cNvSpPr txBox="1">
            <a:spLocks/>
          </p:cNvSpPr>
          <p:nvPr/>
        </p:nvSpPr>
        <p:spPr>
          <a:xfrm>
            <a:off x="6174536" y="2170176"/>
            <a:ext cx="5166360" cy="41849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dirty="0"/>
              <a:t>Nachteile «in Memory» Table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CH" dirty="0"/>
              <a:t>- Recovery </a:t>
            </a:r>
            <a:r>
              <a:rPr lang="de-CH" dirty="0" err="1"/>
              <a:t>planning</a:t>
            </a:r>
            <a:r>
              <a:rPr lang="de-CH" dirty="0"/>
              <a:t> </a:t>
            </a:r>
            <a:r>
              <a:rPr lang="de-CH" dirty="0" err="1"/>
              <a:t>becomes</a:t>
            </a:r>
            <a:r>
              <a:rPr lang="de-CH" dirty="0"/>
              <a:t> </a:t>
            </a:r>
            <a:r>
              <a:rPr lang="de-CH" dirty="0" err="1"/>
              <a:t>critical</a:t>
            </a:r>
            <a:r>
              <a:rPr lang="de-CH"/>
              <a:t> 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719485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697AA-130A-5063-F648-A78B3322D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C6B2A-59DB-929B-9ED2-498F1EF977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dirty="0"/>
              <a:t>Vorteile «in Memory» Table</a:t>
            </a:r>
            <a:endParaRPr lang="en-CH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16D7DB-5E2A-6B86-41D0-E5CBC398E3E8}"/>
              </a:ext>
            </a:extLst>
          </p:cNvPr>
          <p:cNvSpPr txBox="1"/>
          <p:nvPr/>
        </p:nvSpPr>
        <p:spPr>
          <a:xfrm>
            <a:off x="529389" y="6458552"/>
            <a:ext cx="61961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200" dirty="0"/>
              <a:t>https://github.com/vjaeggi/MemoryOptimizedTables_SQL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43DC06B-5030-4835-4B43-6F2243728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Beispiel Nachteil «in Memory» Table gegenüber «in </a:t>
            </a:r>
            <a:r>
              <a:rPr lang="de-CH" dirty="0" err="1"/>
              <a:t>disk</a:t>
            </a:r>
            <a:r>
              <a:rPr lang="de-CH" dirty="0"/>
              <a:t>» Table</a:t>
            </a:r>
            <a:endParaRPr lang="en-CH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60107AE-A633-3686-BA66-ABC783266DDF}"/>
              </a:ext>
            </a:extLst>
          </p:cNvPr>
          <p:cNvSpPr txBox="1">
            <a:spLocks/>
          </p:cNvSpPr>
          <p:nvPr/>
        </p:nvSpPr>
        <p:spPr>
          <a:xfrm>
            <a:off x="6174536" y="2170176"/>
            <a:ext cx="5166360" cy="41849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dirty="0"/>
              <a:t>Nachteile «in Memory» Table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35068550"/>
      </p:ext>
    </p:extLst>
  </p:cSld>
  <p:clrMapOvr>
    <a:masterClrMapping/>
  </p:clrMapOvr>
</p:sld>
</file>

<file path=ppt/theme/theme1.xml><?xml version="1.0" encoding="utf-8"?>
<a:theme xmlns:a="http://schemas.openxmlformats.org/drawingml/2006/main" name="Chroma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" id="{DC2B181E-9B25-4FFB-A269-A81149E37B96}" vid="{FD28A279-D9A1-4F6C-9122-D382EE6782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346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Light</vt:lpstr>
      <vt:lpstr>Arial</vt:lpstr>
      <vt:lpstr>Chroma</vt:lpstr>
      <vt:lpstr>Memory Optimized Tables (MOT) in Microsoft SQL</vt:lpstr>
      <vt:lpstr>Aufgabe</vt:lpstr>
      <vt:lpstr>Unterschied «disk tables» vs «memory optimized tables»</vt:lpstr>
      <vt:lpstr>Unterschied «disk tables» vs «memory optimized tables»</vt:lpstr>
      <vt:lpstr>Kurzdemo Performance Vergleich SSMS 2022  </vt:lpstr>
      <vt:lpstr>Fazit Performance Vergleich (Laufzeiten) </vt:lpstr>
      <vt:lpstr>Vor- und Nachteile «in Memory» Table</vt:lpstr>
      <vt:lpstr>Beispiel Nachteil «in Memory» Table gegenüber «in disk»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Vera Jäggi</dc:creator>
  <cp:lastModifiedBy>Vera Jäggi</cp:lastModifiedBy>
  <cp:revision>3</cp:revision>
  <dcterms:created xsi:type="dcterms:W3CDTF">2026-02-24T14:12:01Z</dcterms:created>
  <dcterms:modified xsi:type="dcterms:W3CDTF">2026-02-24T15:18:00Z</dcterms:modified>
</cp:coreProperties>
</file>